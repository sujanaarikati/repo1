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97" r:id="rId2"/>
    <p:sldId id="298" r:id="rId3"/>
    <p:sldId id="303" r:id="rId4"/>
    <p:sldId id="336" r:id="rId5"/>
    <p:sldId id="305" r:id="rId6"/>
    <p:sldId id="327" r:id="rId7"/>
    <p:sldId id="307" r:id="rId8"/>
    <p:sldId id="309" r:id="rId9"/>
    <p:sldId id="312" r:id="rId10"/>
    <p:sldId id="328" r:id="rId11"/>
    <p:sldId id="333" r:id="rId12"/>
    <p:sldId id="315" r:id="rId13"/>
    <p:sldId id="329" r:id="rId14"/>
    <p:sldId id="330" r:id="rId15"/>
    <p:sldId id="332" r:id="rId16"/>
    <p:sldId id="324" r:id="rId17"/>
    <p:sldId id="322" r:id="rId18"/>
    <p:sldId id="323" r:id="rId19"/>
    <p:sldId id="325" r:id="rId20"/>
    <p:sldId id="326" r:id="rId21"/>
    <p:sldId id="334" r:id="rId22"/>
    <p:sldId id="335" r:id="rId23"/>
    <p:sldId id="317" r:id="rId24"/>
    <p:sldId id="331" r:id="rId25"/>
    <p:sldId id="319" r:id="rId26"/>
    <p:sldId id="32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8BF7F0-CCA2-4AC1-95CF-E38EA32BD95A}" type="datetimeFigureOut">
              <a:rPr lang="en-IN" smtClean="0"/>
              <a:t>30-04-2026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B8B212-756E-4376-A665-7DED61BD48A1}" type="slidenum">
              <a:rPr lang="en-IN" smtClean="0"/>
              <a:t>‹#›</a:t>
            </a:fld>
            <a:endParaRPr lang="en-IN"/>
          </a:p>
        </p:txBody>
      </p:sp>
    </p:spTree>
    <p:extLst>
      <p:ext uri="{BB962C8B-B14F-4D97-AF65-F5344CB8AC3E}">
        <p14:creationId xmlns:p14="http://schemas.microsoft.com/office/powerpoint/2010/main" val="996482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2B8B212-756E-4376-A665-7DED61BD48A1}" type="slidenum">
              <a:rPr lang="en-IN" smtClean="0"/>
              <a:t>20</a:t>
            </a:fld>
            <a:endParaRPr lang="en-IN"/>
          </a:p>
        </p:txBody>
      </p:sp>
    </p:spTree>
    <p:extLst>
      <p:ext uri="{BB962C8B-B14F-4D97-AF65-F5344CB8AC3E}">
        <p14:creationId xmlns:p14="http://schemas.microsoft.com/office/powerpoint/2010/main" val="2521869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D3848-DB01-0E23-71DC-A195964160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0FA916-BCE7-8403-383E-34155DFB1B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2AF22F-1C04-D309-DAB8-CB0501D1D029}"/>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5" name="Footer Placeholder 4">
            <a:extLst>
              <a:ext uri="{FF2B5EF4-FFF2-40B4-BE49-F238E27FC236}">
                <a16:creationId xmlns:a16="http://schemas.microsoft.com/office/drawing/2014/main" id="{AB41C718-A6E4-B62F-75CD-0D99305B9D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A0A222-E37A-B894-79DA-D6FE70E34B46}"/>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648467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309DB-830E-4D09-3853-4D6B3D6AD2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49B6DC-9338-92DD-79FB-5967DD11EE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15ECF7-1B80-F1F8-ECAA-7FC79DD56805}"/>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5" name="Footer Placeholder 4">
            <a:extLst>
              <a:ext uri="{FF2B5EF4-FFF2-40B4-BE49-F238E27FC236}">
                <a16:creationId xmlns:a16="http://schemas.microsoft.com/office/drawing/2014/main" id="{38EBE48F-36D4-440A-8598-93C7B2C262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3CC649-9D2D-F417-444C-38BCEF415DC1}"/>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2077893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85890-273C-91DA-8952-300F545F3C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8CBD6B8-37F5-6077-58B6-3E62DABA9A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B8CAFD-3A50-41DD-C696-9770640A9E44}"/>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5" name="Footer Placeholder 4">
            <a:extLst>
              <a:ext uri="{FF2B5EF4-FFF2-40B4-BE49-F238E27FC236}">
                <a16:creationId xmlns:a16="http://schemas.microsoft.com/office/drawing/2014/main" id="{1754F6FC-9C4C-6246-B40F-C87EB99804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004BE-A3A7-2A72-680A-97E5A21CF1CD}"/>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1888434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DE0C3-9260-FCD3-A666-D64FECFA32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6240E7-3E63-6891-6855-41BEAFDAB0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0CCB548-1455-668B-0E14-806883A3E6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A2B096-BBC5-84AD-FCB9-889BF1DBC25A}"/>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6" name="Footer Placeholder 5">
            <a:extLst>
              <a:ext uri="{FF2B5EF4-FFF2-40B4-BE49-F238E27FC236}">
                <a16:creationId xmlns:a16="http://schemas.microsoft.com/office/drawing/2014/main" id="{02126A91-90CC-A241-0419-038228FC2E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932E5B-5B11-F4FF-66F2-DBB7156D27CE}"/>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1715883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13A9D-F50C-2847-377B-836AA5DC8A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3A2833-2F1D-2607-8B3F-087A77F3B9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95BEDF-AF4C-1053-DBD7-F4F564130F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59B74E-4E00-4D8E-D736-141BCD0510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C459E2-F238-6427-CB27-EFE544D71D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044123-FE4F-63BA-B516-9C09169A9182}"/>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8" name="Footer Placeholder 7">
            <a:extLst>
              <a:ext uri="{FF2B5EF4-FFF2-40B4-BE49-F238E27FC236}">
                <a16:creationId xmlns:a16="http://schemas.microsoft.com/office/drawing/2014/main" id="{655DCDAF-39D7-6ED0-1FD8-18D5A1EFE8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AF787C-E4C9-9798-AB9D-386EECFC8DAC}"/>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25059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7AEB2-53B8-6347-F6B5-2ED928171C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F4007B-5263-62DC-5F2F-B5C9DBF29B5E}"/>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4" name="Footer Placeholder 3">
            <a:extLst>
              <a:ext uri="{FF2B5EF4-FFF2-40B4-BE49-F238E27FC236}">
                <a16:creationId xmlns:a16="http://schemas.microsoft.com/office/drawing/2014/main" id="{4549611B-9DDE-2E8B-E470-54ABA1FF15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9DFF7E-B37E-0311-CC82-80A32C26709E}"/>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1963094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C8A8D2-329E-E089-9E05-A39DA60F7172}"/>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3" name="Footer Placeholder 2">
            <a:extLst>
              <a:ext uri="{FF2B5EF4-FFF2-40B4-BE49-F238E27FC236}">
                <a16:creationId xmlns:a16="http://schemas.microsoft.com/office/drawing/2014/main" id="{8C70FEB3-D497-0C50-7EE5-A8825BBFBE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B98BE3-978B-BB11-67B1-936F118C3ECF}"/>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2065051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8917-07AE-EAD8-9F9D-F06F03512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F1971C-4E3F-5CBC-C597-F68C3BC619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464906-3525-3A9F-F1E7-4E803C1CF7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081A93-7933-5A20-C036-C9C3CEEA923D}"/>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6" name="Footer Placeholder 5">
            <a:extLst>
              <a:ext uri="{FF2B5EF4-FFF2-40B4-BE49-F238E27FC236}">
                <a16:creationId xmlns:a16="http://schemas.microsoft.com/office/drawing/2014/main" id="{1A8CBF12-6D36-E076-543F-86A4BA6424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EC8F67-DE71-0E58-E9E2-5E3B34186FEF}"/>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3766704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90C52-C186-B90E-324B-0B2BA88EC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F0B175-53D0-6B1D-4F0B-651426981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2DE7E9-1023-7997-2866-FD8070A456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963FA1-787B-1EA9-07AA-AD00F6B3F465}"/>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6" name="Footer Placeholder 5">
            <a:extLst>
              <a:ext uri="{FF2B5EF4-FFF2-40B4-BE49-F238E27FC236}">
                <a16:creationId xmlns:a16="http://schemas.microsoft.com/office/drawing/2014/main" id="{DB437F53-6379-1283-0B4B-A0129340EE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4E03BF-C52A-425C-3FCA-2543C7B716A2}"/>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4264330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01C87-53EA-BF0F-77B8-598C1F7B9E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BC8087-E479-9A78-D6C5-E0D200CF9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DD8B9D-C070-80A1-C360-85FEF4889C5C}"/>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5" name="Footer Placeholder 4">
            <a:extLst>
              <a:ext uri="{FF2B5EF4-FFF2-40B4-BE49-F238E27FC236}">
                <a16:creationId xmlns:a16="http://schemas.microsoft.com/office/drawing/2014/main" id="{DDD8203E-0C8E-1869-5D60-538EF777F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18DA54-D641-383B-6F45-30D78394E576}"/>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3111143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1766BB-A2FE-4EFC-0A2A-E3596AC3F35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76BEAC-FF8E-59FA-9E4D-16550083F2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78E9F7-FAC2-DFD2-B93E-1121A349B0D4}"/>
              </a:ext>
            </a:extLst>
          </p:cNvPr>
          <p:cNvSpPr>
            <a:spLocks noGrp="1"/>
          </p:cNvSpPr>
          <p:nvPr>
            <p:ph type="dt" sz="half" idx="10"/>
          </p:nvPr>
        </p:nvSpPr>
        <p:spPr/>
        <p:txBody>
          <a:bodyPr/>
          <a:lstStyle/>
          <a:p>
            <a:fld id="{42114AAC-D2F4-44A4-AB11-DF9ED0615303}" type="datetimeFigureOut">
              <a:rPr lang="en-IN" smtClean="0"/>
              <a:t>30-04-2026</a:t>
            </a:fld>
            <a:endParaRPr lang="en-IN"/>
          </a:p>
        </p:txBody>
      </p:sp>
      <p:sp>
        <p:nvSpPr>
          <p:cNvPr id="5" name="Footer Placeholder 4">
            <a:extLst>
              <a:ext uri="{FF2B5EF4-FFF2-40B4-BE49-F238E27FC236}">
                <a16:creationId xmlns:a16="http://schemas.microsoft.com/office/drawing/2014/main" id="{D8710C9D-5F7D-3853-695D-EB75B1593F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DC5E69-1BB4-D04A-CB0C-1D63E5E474FA}"/>
              </a:ext>
            </a:extLst>
          </p:cNvPr>
          <p:cNvSpPr>
            <a:spLocks noGrp="1"/>
          </p:cNvSpPr>
          <p:nvPr>
            <p:ph type="sldNum" sz="quarter" idx="12"/>
          </p:nvPr>
        </p:nvSpPr>
        <p:spPr/>
        <p:txBody>
          <a:bodyPr/>
          <a:lstStyle/>
          <a:p>
            <a:fld id="{1BC2D20E-9988-46E9-9E8C-AE206C53CA76}" type="slidenum">
              <a:rPr lang="en-IN" smtClean="0"/>
              <a:t>‹#›</a:t>
            </a:fld>
            <a:endParaRPr lang="en-IN"/>
          </a:p>
        </p:txBody>
      </p:sp>
    </p:spTree>
    <p:extLst>
      <p:ext uri="{BB962C8B-B14F-4D97-AF65-F5344CB8AC3E}">
        <p14:creationId xmlns:p14="http://schemas.microsoft.com/office/powerpoint/2010/main" val="3411002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1E7473-88FF-F473-70D1-AF126CC9CF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7B34E6-DAF3-20F0-6CD8-DACD852F38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5ED494-B3F8-D437-F928-240D757148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114AAC-D2F4-44A4-AB11-DF9ED0615303}" type="datetimeFigureOut">
              <a:rPr lang="en-IN" smtClean="0"/>
              <a:t>30-04-2026</a:t>
            </a:fld>
            <a:endParaRPr lang="en-IN"/>
          </a:p>
        </p:txBody>
      </p:sp>
      <p:sp>
        <p:nvSpPr>
          <p:cNvPr id="5" name="Footer Placeholder 4">
            <a:extLst>
              <a:ext uri="{FF2B5EF4-FFF2-40B4-BE49-F238E27FC236}">
                <a16:creationId xmlns:a16="http://schemas.microsoft.com/office/drawing/2014/main" id="{7EC1CC9F-081A-7832-7F1C-3297CC86DF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AF8BB9C-9C0A-D407-9A1F-DA79B5251B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C2D20E-9988-46E9-9E8C-AE206C53CA76}" type="slidenum">
              <a:rPr lang="en-IN" smtClean="0"/>
              <a:t>‹#›</a:t>
            </a:fld>
            <a:endParaRPr lang="en-IN"/>
          </a:p>
        </p:txBody>
      </p:sp>
    </p:spTree>
    <p:extLst>
      <p:ext uri="{BB962C8B-B14F-4D97-AF65-F5344CB8AC3E}">
        <p14:creationId xmlns:p14="http://schemas.microsoft.com/office/powerpoint/2010/main" val="1375446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1138" y="1033341"/>
            <a:ext cx="8923124" cy="1812496"/>
          </a:xfrm>
        </p:spPr>
        <p:txBody>
          <a:bodyPr>
            <a:noAutofit/>
          </a:bodyPr>
          <a:lstStyle/>
          <a:p>
            <a:br>
              <a:rPr lang="en-IN" sz="3600" b="1" dirty="0"/>
            </a:br>
            <a:br>
              <a:rPr lang="en-IN" sz="3600" b="1" dirty="0"/>
            </a:br>
            <a:br>
              <a:rPr lang="en-IN" sz="3600" b="1" dirty="0"/>
            </a:br>
            <a:br>
              <a:rPr lang="en-IN" sz="3600" b="1" dirty="0"/>
            </a:br>
            <a:br>
              <a:rPr lang="en-IN" sz="3600" b="1" dirty="0"/>
            </a:br>
            <a:br>
              <a:rPr lang="en-IN" sz="3600" b="1" dirty="0"/>
            </a:br>
            <a:r>
              <a:rPr lang="en-IN" sz="3600" b="1" dirty="0"/>
              <a:t>AUTOMATED INFORMATION EXTRACTION FROM MULTILINGUAL CV DOCUMENTS</a:t>
            </a:r>
          </a:p>
        </p:txBody>
      </p:sp>
      <p:sp>
        <p:nvSpPr>
          <p:cNvPr id="3" name="Subtitle 2"/>
          <p:cNvSpPr>
            <a:spLocks noGrp="1"/>
          </p:cNvSpPr>
          <p:nvPr>
            <p:ph type="subTitle" idx="1"/>
          </p:nvPr>
        </p:nvSpPr>
        <p:spPr>
          <a:xfrm>
            <a:off x="5611429" y="4144699"/>
            <a:ext cx="6400800" cy="855133"/>
          </a:xfrm>
        </p:spPr>
        <p:txBody>
          <a:bodyPr>
            <a:normAutofit/>
          </a:bodyPr>
          <a:lstStyle/>
          <a:p>
            <a:endParaRPr lang="en-US" b="1" dirty="0"/>
          </a:p>
          <a:p>
            <a:endParaRPr lang="en-US" dirty="0"/>
          </a:p>
        </p:txBody>
      </p:sp>
      <p:sp>
        <p:nvSpPr>
          <p:cNvPr id="43010" name="AutoShape 2" descr="RVRJCCE"/>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43012" name="AutoShape 4" descr="RVRJCCE"/>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43014" name="AutoShape 6" descr="RVRJCCE"/>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43015" name="Picture 7" descr="C:\Users\Krishab\Pictures\RVRJC Logo.jp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640557" y="304271"/>
            <a:ext cx="1549276" cy="1458141"/>
          </a:xfrm>
          <a:prstGeom prst="rect">
            <a:avLst/>
          </a:prstGeom>
          <a:noFill/>
        </p:spPr>
      </p:pic>
      <p:sp>
        <p:nvSpPr>
          <p:cNvPr id="8" name="TextBox 7"/>
          <p:cNvSpPr txBox="1"/>
          <p:nvPr/>
        </p:nvSpPr>
        <p:spPr>
          <a:xfrm>
            <a:off x="1181890" y="3836447"/>
            <a:ext cx="4504267" cy="923330"/>
          </a:xfrm>
          <a:prstGeom prst="rect">
            <a:avLst/>
          </a:prstGeom>
          <a:noFill/>
        </p:spPr>
        <p:txBody>
          <a:bodyPr wrap="square" rtlCol="0">
            <a:spAutoFit/>
          </a:bodyPr>
          <a:lstStyle/>
          <a:p>
            <a:r>
              <a:rPr lang="en-US" b="1" u="sng" dirty="0"/>
              <a:t>Guided By:</a:t>
            </a:r>
          </a:p>
          <a:p>
            <a:r>
              <a:rPr lang="en-US" dirty="0"/>
              <a:t>	Mr. </a:t>
            </a:r>
            <a:r>
              <a:rPr lang="fi-FI" dirty="0"/>
              <a:t>K. V. Ranga Rao </a:t>
            </a:r>
          </a:p>
          <a:p>
            <a:r>
              <a:rPr lang="en-US" dirty="0"/>
              <a:t>	Assistant  Professor, CSE(AIML)</a:t>
            </a:r>
          </a:p>
        </p:txBody>
      </p:sp>
      <p:sp>
        <p:nvSpPr>
          <p:cNvPr id="4" name="TextBox 3">
            <a:extLst>
              <a:ext uri="{FF2B5EF4-FFF2-40B4-BE49-F238E27FC236}">
                <a16:creationId xmlns:a16="http://schemas.microsoft.com/office/drawing/2014/main" id="{C7779B21-69E6-DC96-E299-311F42D2DAB4}"/>
              </a:ext>
            </a:extLst>
          </p:cNvPr>
          <p:cNvSpPr txBox="1"/>
          <p:nvPr/>
        </p:nvSpPr>
        <p:spPr>
          <a:xfrm>
            <a:off x="7171267" y="3746767"/>
            <a:ext cx="4747829" cy="1200329"/>
          </a:xfrm>
          <a:prstGeom prst="rect">
            <a:avLst/>
          </a:prstGeom>
          <a:noFill/>
        </p:spPr>
        <p:txBody>
          <a:bodyPr wrap="square" rtlCol="0">
            <a:spAutoFit/>
          </a:bodyPr>
          <a:lstStyle/>
          <a:p>
            <a:r>
              <a:rPr lang="en-IN" b="1" u="sng" dirty="0"/>
              <a:t>Presented By:</a:t>
            </a:r>
          </a:p>
          <a:p>
            <a:pPr algn="just"/>
            <a:r>
              <a:rPr lang="en-IN" dirty="0"/>
              <a:t>                  </a:t>
            </a:r>
            <a:r>
              <a:rPr lang="es-ES" dirty="0"/>
              <a:t>A. Sujana (Y22CM006) </a:t>
            </a:r>
          </a:p>
          <a:p>
            <a:pPr algn="just"/>
            <a:r>
              <a:rPr lang="es-ES" dirty="0"/>
              <a:t>                  J. Durga Prasad (Y22CM062)</a:t>
            </a:r>
          </a:p>
          <a:p>
            <a:pPr algn="just"/>
            <a:r>
              <a:rPr lang="es-ES" dirty="0"/>
              <a:t>                  G. Keerthi (Y22CM054)</a:t>
            </a:r>
            <a:endParaRPr lang="en-IN" dirty="0"/>
          </a:p>
        </p:txBody>
      </p:sp>
      <p:sp>
        <p:nvSpPr>
          <p:cNvPr id="5" name="TextBox 4">
            <a:extLst>
              <a:ext uri="{FF2B5EF4-FFF2-40B4-BE49-F238E27FC236}">
                <a16:creationId xmlns:a16="http://schemas.microsoft.com/office/drawing/2014/main" id="{FF4A73B7-8E8D-95B4-1624-B3A387A235A8}"/>
              </a:ext>
            </a:extLst>
          </p:cNvPr>
          <p:cNvSpPr txBox="1"/>
          <p:nvPr/>
        </p:nvSpPr>
        <p:spPr>
          <a:xfrm>
            <a:off x="1107162" y="3048000"/>
            <a:ext cx="2626638" cy="369332"/>
          </a:xfrm>
          <a:prstGeom prst="rect">
            <a:avLst/>
          </a:prstGeom>
          <a:noFill/>
        </p:spPr>
        <p:txBody>
          <a:bodyPr wrap="square" rtlCol="0">
            <a:spAutoFit/>
          </a:bodyPr>
          <a:lstStyle/>
          <a:p>
            <a:r>
              <a:rPr lang="en-IN" b="1" dirty="0"/>
              <a:t>Subject Code: CM461</a:t>
            </a:r>
          </a:p>
        </p:txBody>
      </p:sp>
      <p:sp>
        <p:nvSpPr>
          <p:cNvPr id="6" name="TextBox 5">
            <a:extLst>
              <a:ext uri="{FF2B5EF4-FFF2-40B4-BE49-F238E27FC236}">
                <a16:creationId xmlns:a16="http://schemas.microsoft.com/office/drawing/2014/main" id="{81AAC23B-ECF7-47EE-3971-889DDC63924D}"/>
              </a:ext>
            </a:extLst>
          </p:cNvPr>
          <p:cNvSpPr txBox="1"/>
          <p:nvPr/>
        </p:nvSpPr>
        <p:spPr>
          <a:xfrm>
            <a:off x="1121062" y="5494705"/>
            <a:ext cx="10359738" cy="646331"/>
          </a:xfrm>
          <a:prstGeom prst="rect">
            <a:avLst/>
          </a:prstGeom>
          <a:noFill/>
        </p:spPr>
        <p:txBody>
          <a:bodyPr wrap="square" rtlCol="0">
            <a:spAutoFit/>
          </a:bodyPr>
          <a:lstStyle/>
          <a:p>
            <a:pPr algn="ctr"/>
            <a:r>
              <a:rPr lang="en-IN" b="1" dirty="0"/>
              <a:t>DEPARTMENT OF COMPUTER SCIENCE AND ENGINEERING (AIML)</a:t>
            </a:r>
          </a:p>
          <a:p>
            <a:pPr algn="ctr"/>
            <a:r>
              <a:rPr lang="en-IN" b="1" dirty="0"/>
              <a:t>R.V.R &amp; J.C COLLEGE OF ENGINEERING , CHOWDAVARAM, GUNTUR</a:t>
            </a:r>
          </a:p>
        </p:txBody>
      </p:sp>
      <p:pic>
        <p:nvPicPr>
          <p:cNvPr id="9" name="Picture 8">
            <a:extLst>
              <a:ext uri="{FF2B5EF4-FFF2-40B4-BE49-F238E27FC236}">
                <a16:creationId xmlns:a16="http://schemas.microsoft.com/office/drawing/2014/main" id="{1F999FB6-E103-FDDB-04CA-8BB754A49EC1}"/>
              </a:ext>
            </a:extLst>
          </p:cNvPr>
          <p:cNvPicPr>
            <a:picLocks noChangeAspect="1"/>
          </p:cNvPicPr>
          <p:nvPr/>
        </p:nvPicPr>
        <p:blipFill>
          <a:blip r:embed="rId3"/>
          <a:stretch>
            <a:fillRect/>
          </a:stretch>
        </p:blipFill>
        <p:spPr>
          <a:xfrm>
            <a:off x="10304771" y="304271"/>
            <a:ext cx="1062601" cy="1435202"/>
          </a:xfrm>
          <a:prstGeom prst="rect">
            <a:avLst/>
          </a:prstGeom>
        </p:spPr>
      </p:pic>
      <p:sp>
        <p:nvSpPr>
          <p:cNvPr id="10" name="TextBox 9">
            <a:extLst>
              <a:ext uri="{FF2B5EF4-FFF2-40B4-BE49-F238E27FC236}">
                <a16:creationId xmlns:a16="http://schemas.microsoft.com/office/drawing/2014/main" id="{60E192BD-71DE-E86C-D3C5-F7AF52F1CDB1}"/>
              </a:ext>
            </a:extLst>
          </p:cNvPr>
          <p:cNvSpPr txBox="1"/>
          <p:nvPr/>
        </p:nvSpPr>
        <p:spPr>
          <a:xfrm>
            <a:off x="4809067" y="6265333"/>
            <a:ext cx="2362200" cy="370576"/>
          </a:xfrm>
          <a:prstGeom prst="rect">
            <a:avLst/>
          </a:prstGeom>
          <a:noFill/>
        </p:spPr>
        <p:txBody>
          <a:bodyPr wrap="square" rtlCol="0">
            <a:spAutoFit/>
          </a:bodyPr>
          <a:lstStyle/>
          <a:p>
            <a:pPr algn="ctr"/>
            <a:r>
              <a:rPr lang="en-IN" b="1" dirty="0"/>
              <a:t>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DEB-8CC4-70D2-C4A5-DBAA79568DD5}"/>
              </a:ext>
            </a:extLst>
          </p:cNvPr>
          <p:cNvSpPr>
            <a:spLocks noGrp="1"/>
          </p:cNvSpPr>
          <p:nvPr>
            <p:ph type="title"/>
          </p:nvPr>
        </p:nvSpPr>
        <p:spPr>
          <a:xfrm>
            <a:off x="4270248" y="0"/>
            <a:ext cx="10515600" cy="1325563"/>
          </a:xfrm>
        </p:spPr>
        <p:txBody>
          <a:bodyPr>
            <a:normAutofit/>
          </a:bodyPr>
          <a:lstStyle/>
          <a:p>
            <a:r>
              <a:rPr lang="en-IN" dirty="0"/>
              <a:t>CONTENTS</a:t>
            </a:r>
          </a:p>
        </p:txBody>
      </p:sp>
      <p:sp>
        <p:nvSpPr>
          <p:cNvPr id="3" name="Content Placeholder 2">
            <a:extLst>
              <a:ext uri="{FF2B5EF4-FFF2-40B4-BE49-F238E27FC236}">
                <a16:creationId xmlns:a16="http://schemas.microsoft.com/office/drawing/2014/main" id="{3F7D99DF-1C93-DE27-8144-72545D780E39}"/>
              </a:ext>
            </a:extLst>
          </p:cNvPr>
          <p:cNvSpPr>
            <a:spLocks noGrp="1"/>
          </p:cNvSpPr>
          <p:nvPr>
            <p:ph idx="1"/>
          </p:nvPr>
        </p:nvSpPr>
        <p:spPr>
          <a:xfrm>
            <a:off x="1156996" y="1169499"/>
            <a:ext cx="10290110" cy="4655975"/>
          </a:xfrm>
        </p:spPr>
        <p:txBody>
          <a:bodyPr>
            <a:normAutofit fontScale="25000" lnSpcReduction="20000"/>
          </a:bodyPr>
          <a:lstStyle/>
          <a:p>
            <a:endParaRPr lang="en-US" dirty="0"/>
          </a:p>
          <a:p>
            <a:r>
              <a:rPr lang="en-IN" sz="8000" dirty="0"/>
              <a:t>INTRODUCTION</a:t>
            </a:r>
          </a:p>
          <a:p>
            <a:r>
              <a:rPr lang="en-IN" sz="8000" dirty="0"/>
              <a:t>PROBLEM STATEMENT  </a:t>
            </a:r>
          </a:p>
          <a:p>
            <a:r>
              <a:rPr lang="en-IN" sz="8000" dirty="0"/>
              <a:t>LITERATURE SURVEY </a:t>
            </a:r>
          </a:p>
          <a:p>
            <a:pPr lvl="1"/>
            <a:r>
              <a:rPr lang="en-IN" sz="8000" dirty="0"/>
              <a:t>RESEARCH GAP</a:t>
            </a:r>
          </a:p>
          <a:p>
            <a:r>
              <a:rPr lang="en-IN" sz="8000" dirty="0"/>
              <a:t>PROJECT OBJECTIVES</a:t>
            </a:r>
          </a:p>
          <a:p>
            <a:r>
              <a:rPr lang="en-IN" sz="8000" dirty="0"/>
              <a:t>PROPOSED METHODOLOGY</a:t>
            </a:r>
          </a:p>
          <a:p>
            <a:pPr lvl="1"/>
            <a:r>
              <a:rPr lang="en-IN" sz="8000" dirty="0"/>
              <a:t>SYSTEM ARCHITECTURE</a:t>
            </a:r>
          </a:p>
          <a:p>
            <a:pPr lvl="1"/>
            <a:r>
              <a:rPr lang="en-IN" sz="8000" dirty="0"/>
              <a:t>DUALMODEL ARCHITECTURE</a:t>
            </a:r>
          </a:p>
          <a:p>
            <a:pPr lvl="1"/>
            <a:r>
              <a:rPr lang="en-IN" sz="8000" dirty="0"/>
              <a:t>ALGORITHMS USED</a:t>
            </a:r>
          </a:p>
          <a:p>
            <a:r>
              <a:rPr lang="en-IN" sz="8000" dirty="0"/>
              <a:t>IMPLEMENTATION</a:t>
            </a:r>
          </a:p>
          <a:p>
            <a:pPr lvl="1"/>
            <a:r>
              <a:rPr lang="en-IN" sz="8000" dirty="0"/>
              <a:t>TOOLS &amp; TECHNOLOGIES</a:t>
            </a:r>
          </a:p>
          <a:p>
            <a:pPr lvl="1"/>
            <a:r>
              <a:rPr lang="en-IN" sz="8000" dirty="0"/>
              <a:t>DATASET DESCRIPTION</a:t>
            </a:r>
          </a:p>
          <a:p>
            <a:r>
              <a:rPr lang="en-IN" sz="8000" dirty="0"/>
              <a:t>RESULTS AND ANALYSIS</a:t>
            </a:r>
          </a:p>
          <a:p>
            <a:r>
              <a:rPr lang="en-IN" sz="8000" dirty="0"/>
              <a:t>CONCLUSION</a:t>
            </a:r>
          </a:p>
          <a:p>
            <a:r>
              <a:rPr lang="en-IN" sz="8000" dirty="0"/>
              <a:t>FUTURE SCOPE</a:t>
            </a:r>
          </a:p>
          <a:p>
            <a:pPr marL="0" indent="0">
              <a:buNone/>
            </a:pPr>
            <a:r>
              <a:rPr lang="en-IN" sz="8000" dirty="0"/>
              <a:t>REFERENCES </a:t>
            </a:r>
          </a:p>
          <a:p>
            <a:endParaRPr lang="en-IN" dirty="0"/>
          </a:p>
        </p:txBody>
      </p:sp>
    </p:spTree>
    <p:extLst>
      <p:ext uri="{BB962C8B-B14F-4D97-AF65-F5344CB8AC3E}">
        <p14:creationId xmlns:p14="http://schemas.microsoft.com/office/powerpoint/2010/main" val="3728167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6172" y="1748226"/>
            <a:ext cx="10786188" cy="3785652"/>
          </a:xfrm>
          <a:prstGeom prst="rect">
            <a:avLst/>
          </a:prstGeom>
        </p:spPr>
        <p:txBody>
          <a:bodyPr wrap="square">
            <a:spAutoFit/>
          </a:bodyPr>
          <a:lstStyle/>
          <a:p>
            <a:pPr marL="342900" indent="-342900">
              <a:buFont typeface="Arial" panose="020B0604020202020204" pitchFamily="34" charset="0"/>
              <a:buChar char="•"/>
            </a:pPr>
            <a:r>
              <a:rPr lang="en-US" sz="2400" dirty="0"/>
              <a:t>In today’s digital era, organizations receive thousands of CVs for recruitment </a:t>
            </a:r>
          </a:p>
          <a:p>
            <a:pPr marL="342900" indent="-342900">
              <a:buFont typeface="Arial" panose="020B0604020202020204" pitchFamily="34" charset="0"/>
              <a:buChar char="•"/>
            </a:pPr>
            <a:r>
              <a:rPr lang="en-US" sz="2400" dirty="0"/>
              <a:t>Efficiently processing this data has become a major challenge </a:t>
            </a:r>
          </a:p>
          <a:p>
            <a:pPr marL="342900" indent="-342900">
              <a:buFont typeface="Arial" panose="020B0604020202020204" pitchFamily="34" charset="0"/>
              <a:buChar char="•"/>
            </a:pPr>
            <a:r>
              <a:rPr lang="en-US" sz="2400" dirty="0"/>
              <a:t>CVs are highly unstructured and vary in format and language </a:t>
            </a:r>
          </a:p>
          <a:p>
            <a:pPr marL="342900" indent="-342900">
              <a:buFont typeface="Arial" panose="020B0604020202020204" pitchFamily="34" charset="0"/>
              <a:buChar char="•"/>
            </a:pPr>
            <a:r>
              <a:rPr lang="en-US" sz="2400" dirty="0"/>
              <a:t>Manual screening is slow, inconsistent, and prone to errors </a:t>
            </a:r>
          </a:p>
          <a:p>
            <a:pPr marL="342900" indent="-342900">
              <a:buFont typeface="Arial" panose="020B0604020202020204" pitchFamily="34" charset="0"/>
              <a:buChar char="•"/>
            </a:pPr>
            <a:r>
              <a:rPr lang="en-US" sz="2400" dirty="0"/>
              <a:t>Information extraction transforms raw CV text into structured data </a:t>
            </a:r>
          </a:p>
          <a:p>
            <a:pPr marL="342900" indent="-342900">
              <a:buFont typeface="Arial" panose="020B0604020202020204" pitchFamily="34" charset="0"/>
              <a:buChar char="•"/>
            </a:pPr>
            <a:r>
              <a:rPr lang="en-US" sz="2400" dirty="0"/>
              <a:t>Key sections include Personal, Experience, Education, and Skills </a:t>
            </a:r>
          </a:p>
          <a:p>
            <a:pPr marL="342900" indent="-342900">
              <a:buFont typeface="Arial" panose="020B0604020202020204" pitchFamily="34" charset="0"/>
              <a:buChar char="•"/>
            </a:pPr>
            <a:r>
              <a:rPr lang="en-US" sz="2400" dirty="0"/>
              <a:t>The dataset shows higher frequency in Personal and Experience sections </a:t>
            </a:r>
          </a:p>
          <a:p>
            <a:pPr marL="342900" indent="-342900">
              <a:buFont typeface="Arial" panose="020B0604020202020204" pitchFamily="34" charset="0"/>
              <a:buChar char="•"/>
            </a:pPr>
            <a:r>
              <a:rPr lang="en-US" sz="2400" dirty="0"/>
              <a:t>Such imbalance influences model learning and extraction accuracy </a:t>
            </a:r>
          </a:p>
          <a:p>
            <a:pPr marL="342900" indent="-342900">
              <a:buFont typeface="Arial" panose="020B0604020202020204" pitchFamily="34" charset="0"/>
              <a:buChar char="•"/>
            </a:pPr>
            <a:r>
              <a:rPr lang="en-US" sz="2400" dirty="0"/>
              <a:t>This work aims to automate multilingual CV information extraction </a:t>
            </a:r>
          </a:p>
          <a:p>
            <a:pPr algn="just"/>
            <a:endParaRPr lang="en-IN" sz="2400" dirty="0"/>
          </a:p>
        </p:txBody>
      </p:sp>
      <p:sp>
        <p:nvSpPr>
          <p:cNvPr id="3" name="Title 2"/>
          <p:cNvSpPr>
            <a:spLocks noGrp="1"/>
          </p:cNvSpPr>
          <p:nvPr>
            <p:ph type="ctrTitle"/>
          </p:nvPr>
        </p:nvSpPr>
        <p:spPr>
          <a:xfrm>
            <a:off x="3142696" y="389755"/>
            <a:ext cx="4534678" cy="998375"/>
          </a:xfrm>
        </p:spPr>
        <p:txBody>
          <a:bodyPr>
            <a:normAutofit fontScale="90000"/>
          </a:bodyPr>
          <a:lstStyle/>
          <a:p>
            <a:r>
              <a:rPr lang="en-IN" sz="4400" dirty="0"/>
              <a:t>      INTRODUCTION </a:t>
            </a:r>
          </a:p>
        </p:txBody>
      </p:sp>
    </p:spTree>
    <p:extLst>
      <p:ext uri="{BB962C8B-B14F-4D97-AF65-F5344CB8AC3E}">
        <p14:creationId xmlns:p14="http://schemas.microsoft.com/office/powerpoint/2010/main" val="2264345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3C43-1DFE-61DB-FA64-334D75F143CE}"/>
              </a:ext>
            </a:extLst>
          </p:cNvPr>
          <p:cNvSpPr>
            <a:spLocks noGrp="1"/>
          </p:cNvSpPr>
          <p:nvPr>
            <p:ph type="title"/>
          </p:nvPr>
        </p:nvSpPr>
        <p:spPr>
          <a:xfrm>
            <a:off x="3209925" y="498475"/>
            <a:ext cx="10515600" cy="1325563"/>
          </a:xfrm>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F5B8B093-CD4C-60B5-DA27-E4AA9D72172F}"/>
              </a:ext>
            </a:extLst>
          </p:cNvPr>
          <p:cNvSpPr>
            <a:spLocks noGrp="1"/>
          </p:cNvSpPr>
          <p:nvPr>
            <p:ph idx="1"/>
          </p:nvPr>
        </p:nvSpPr>
        <p:spPr>
          <a:xfrm>
            <a:off x="1019175" y="1919288"/>
            <a:ext cx="10515600" cy="4351338"/>
          </a:xfrm>
        </p:spPr>
        <p:txBody>
          <a:bodyPr>
            <a:normAutofit/>
          </a:bodyPr>
          <a:lstStyle/>
          <a:p>
            <a:pPr marL="0" indent="0" algn="just">
              <a:buNone/>
            </a:pPr>
            <a:r>
              <a:rPr lang="en-US" sz="2400" dirty="0"/>
              <a:t>In today’s data-driven recruitment environment, efficiently processing large volumes of CVs has become a significant challenge. Resumes are inherently unstructured, making automatic extraction of relevant information difficult. Existing methods often provide limited support for multilingual data and fail to capture complete details accurately. Therefore, there is a need for a robust system that can automatically extract and organize CV information in a structured manner.</a:t>
            </a:r>
            <a:endParaRPr lang="en-IN" sz="2400" dirty="0"/>
          </a:p>
        </p:txBody>
      </p:sp>
    </p:spTree>
    <p:extLst>
      <p:ext uri="{BB962C8B-B14F-4D97-AF65-F5344CB8AC3E}">
        <p14:creationId xmlns:p14="http://schemas.microsoft.com/office/powerpoint/2010/main" val="2621248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6366" y="159569"/>
            <a:ext cx="5999585" cy="1073020"/>
          </a:xfrm>
        </p:spPr>
        <p:txBody>
          <a:bodyPr>
            <a:normAutofit/>
          </a:bodyPr>
          <a:lstStyle/>
          <a:p>
            <a:r>
              <a:rPr lang="en-IN" sz="4000" dirty="0"/>
              <a:t>LITERATURE SURVEY</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958285720"/>
              </p:ext>
            </p:extLst>
          </p:nvPr>
        </p:nvGraphicFramePr>
        <p:xfrm>
          <a:off x="2184021" y="1101726"/>
          <a:ext cx="7676320" cy="5681116"/>
        </p:xfrm>
        <a:graphic>
          <a:graphicData uri="http://schemas.openxmlformats.org/drawingml/2006/table">
            <a:tbl>
              <a:tblPr/>
              <a:tblGrid>
                <a:gridCol w="1535264">
                  <a:extLst>
                    <a:ext uri="{9D8B030D-6E8A-4147-A177-3AD203B41FA5}">
                      <a16:colId xmlns:a16="http://schemas.microsoft.com/office/drawing/2014/main" val="20000"/>
                    </a:ext>
                  </a:extLst>
                </a:gridCol>
                <a:gridCol w="1535264">
                  <a:extLst>
                    <a:ext uri="{9D8B030D-6E8A-4147-A177-3AD203B41FA5}">
                      <a16:colId xmlns:a16="http://schemas.microsoft.com/office/drawing/2014/main" val="20001"/>
                    </a:ext>
                  </a:extLst>
                </a:gridCol>
                <a:gridCol w="1535264">
                  <a:extLst>
                    <a:ext uri="{9D8B030D-6E8A-4147-A177-3AD203B41FA5}">
                      <a16:colId xmlns:a16="http://schemas.microsoft.com/office/drawing/2014/main" val="20002"/>
                    </a:ext>
                  </a:extLst>
                </a:gridCol>
                <a:gridCol w="1535264">
                  <a:extLst>
                    <a:ext uri="{9D8B030D-6E8A-4147-A177-3AD203B41FA5}">
                      <a16:colId xmlns:a16="http://schemas.microsoft.com/office/drawing/2014/main" val="20003"/>
                    </a:ext>
                  </a:extLst>
                </a:gridCol>
                <a:gridCol w="1535264">
                  <a:extLst>
                    <a:ext uri="{9D8B030D-6E8A-4147-A177-3AD203B41FA5}">
                      <a16:colId xmlns:a16="http://schemas.microsoft.com/office/drawing/2014/main" val="20004"/>
                    </a:ext>
                  </a:extLst>
                </a:gridCol>
              </a:tblGrid>
              <a:tr h="267002">
                <a:tc>
                  <a:txBody>
                    <a:bodyPr/>
                    <a:lstStyle/>
                    <a:p>
                      <a:endParaRPr lang="en-IN" dirty="0"/>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extLst>
                  <a:ext uri="{0D108BD9-81ED-4DB2-BD59-A6C34878D82A}">
                    <a16:rowId xmlns:a16="http://schemas.microsoft.com/office/drawing/2014/main" val="10000"/>
                  </a:ext>
                </a:extLst>
              </a:tr>
              <a:tr h="1068009">
                <a:tc>
                  <a:txBody>
                    <a:bodyPr/>
                    <a:lstStyle/>
                    <a:p>
                      <a:endParaRPr lang="en-IN" dirty="0"/>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extLst>
                  <a:ext uri="{0D108BD9-81ED-4DB2-BD59-A6C34878D82A}">
                    <a16:rowId xmlns:a16="http://schemas.microsoft.com/office/drawing/2014/main" val="10001"/>
                  </a:ext>
                </a:extLst>
              </a:tr>
              <a:tr h="1268261">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extLst>
                  <a:ext uri="{0D108BD9-81ED-4DB2-BD59-A6C34878D82A}">
                    <a16:rowId xmlns:a16="http://schemas.microsoft.com/office/drawing/2014/main" val="10002"/>
                  </a:ext>
                </a:extLst>
              </a:tr>
              <a:tr h="867758">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extLst>
                  <a:ext uri="{0D108BD9-81ED-4DB2-BD59-A6C34878D82A}">
                    <a16:rowId xmlns:a16="http://schemas.microsoft.com/office/drawing/2014/main" val="10003"/>
                  </a:ext>
                </a:extLst>
              </a:tr>
              <a:tr h="1068009">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extLst>
                  <a:ext uri="{0D108BD9-81ED-4DB2-BD59-A6C34878D82A}">
                    <a16:rowId xmlns:a16="http://schemas.microsoft.com/office/drawing/2014/main" val="10004"/>
                  </a:ext>
                </a:extLst>
              </a:tr>
              <a:tr h="1068009">
                <a:tc>
                  <a:txBody>
                    <a:bodyPr/>
                    <a:lstStyle/>
                    <a:p>
                      <a:endParaRPr lang="en-IN"/>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dirty="0"/>
                    </a:p>
                  </a:txBody>
                  <a:tcPr marL="66751" marR="66751" marT="33375" marB="33375" anchor="ctr">
                    <a:lnL>
                      <a:noFill/>
                    </a:lnL>
                    <a:lnR>
                      <a:noFill/>
                    </a:lnR>
                    <a:lnT>
                      <a:noFill/>
                    </a:lnT>
                    <a:lnB>
                      <a:noFill/>
                    </a:lnB>
                  </a:tcPr>
                </a:tc>
                <a:tc>
                  <a:txBody>
                    <a:bodyPr/>
                    <a:lstStyle/>
                    <a:p>
                      <a:endParaRPr lang="en-IN"/>
                    </a:p>
                  </a:txBody>
                  <a:tcPr marL="66751" marR="66751" marT="33375" marB="33375" anchor="ctr">
                    <a:lnL>
                      <a:noFill/>
                    </a:lnL>
                    <a:lnR>
                      <a:noFill/>
                    </a:lnR>
                    <a:lnT>
                      <a:noFill/>
                    </a:lnT>
                    <a:lnB>
                      <a:noFill/>
                    </a:lnB>
                  </a:tcPr>
                </a:tc>
                <a:tc>
                  <a:txBody>
                    <a:bodyPr/>
                    <a:lstStyle/>
                    <a:p>
                      <a:endParaRPr lang="en-IN" dirty="0"/>
                    </a:p>
                  </a:txBody>
                  <a:tcPr marL="66751" marR="66751" marT="33375" marB="33375" anchor="ctr">
                    <a:lnL>
                      <a:noFill/>
                    </a:lnL>
                    <a:lnR>
                      <a:noFill/>
                    </a:lnR>
                    <a:lnT>
                      <a:noFill/>
                    </a:lnT>
                    <a:lnB>
                      <a:noFill/>
                    </a:lnB>
                  </a:tcPr>
                </a:tc>
                <a:extLst>
                  <a:ext uri="{0D108BD9-81ED-4DB2-BD59-A6C34878D82A}">
                    <a16:rowId xmlns:a16="http://schemas.microsoft.com/office/drawing/2014/main" val="10005"/>
                  </a:ext>
                </a:extLst>
              </a:tr>
            </a:tbl>
          </a:graphicData>
        </a:graphic>
      </p:graphicFrame>
      <p:graphicFrame>
        <p:nvGraphicFramePr>
          <p:cNvPr id="3" name="Table 2">
            <a:extLst>
              <a:ext uri="{FF2B5EF4-FFF2-40B4-BE49-F238E27FC236}">
                <a16:creationId xmlns:a16="http://schemas.microsoft.com/office/drawing/2014/main" id="{62538B55-4B5A-8F5F-9DD2-1512044A292D}"/>
              </a:ext>
            </a:extLst>
          </p:cNvPr>
          <p:cNvGraphicFramePr>
            <a:graphicFrameLocks noGrp="1"/>
          </p:cNvGraphicFramePr>
          <p:nvPr>
            <p:extLst>
              <p:ext uri="{D42A27DB-BD31-4B8C-83A1-F6EECF244321}">
                <p14:modId xmlns:p14="http://schemas.microsoft.com/office/powerpoint/2010/main" val="3271553275"/>
              </p:ext>
            </p:extLst>
          </p:nvPr>
        </p:nvGraphicFramePr>
        <p:xfrm>
          <a:off x="602133" y="1363451"/>
          <a:ext cx="10987733" cy="4548746"/>
        </p:xfrm>
        <a:graphic>
          <a:graphicData uri="http://schemas.openxmlformats.org/drawingml/2006/table">
            <a:tbl>
              <a:tblPr>
                <a:tableStyleId>{5940675A-B579-460E-94D1-54222C63F5DA}</a:tableStyleId>
              </a:tblPr>
              <a:tblGrid>
                <a:gridCol w="3357900">
                  <a:extLst>
                    <a:ext uri="{9D8B030D-6E8A-4147-A177-3AD203B41FA5}">
                      <a16:colId xmlns:a16="http://schemas.microsoft.com/office/drawing/2014/main" val="2642078713"/>
                    </a:ext>
                  </a:extLst>
                </a:gridCol>
                <a:gridCol w="1573356">
                  <a:extLst>
                    <a:ext uri="{9D8B030D-6E8A-4147-A177-3AD203B41FA5}">
                      <a16:colId xmlns:a16="http://schemas.microsoft.com/office/drawing/2014/main" val="1329871358"/>
                    </a:ext>
                  </a:extLst>
                </a:gridCol>
                <a:gridCol w="660716">
                  <a:extLst>
                    <a:ext uri="{9D8B030D-6E8A-4147-A177-3AD203B41FA5}">
                      <a16:colId xmlns:a16="http://schemas.microsoft.com/office/drawing/2014/main" val="511385490"/>
                    </a:ext>
                  </a:extLst>
                </a:gridCol>
                <a:gridCol w="1295709">
                  <a:extLst>
                    <a:ext uri="{9D8B030D-6E8A-4147-A177-3AD203B41FA5}">
                      <a16:colId xmlns:a16="http://schemas.microsoft.com/office/drawing/2014/main" val="1791836206"/>
                    </a:ext>
                  </a:extLst>
                </a:gridCol>
                <a:gridCol w="2181822">
                  <a:extLst>
                    <a:ext uri="{9D8B030D-6E8A-4147-A177-3AD203B41FA5}">
                      <a16:colId xmlns:a16="http://schemas.microsoft.com/office/drawing/2014/main" val="1259297015"/>
                    </a:ext>
                  </a:extLst>
                </a:gridCol>
                <a:gridCol w="1918230">
                  <a:extLst>
                    <a:ext uri="{9D8B030D-6E8A-4147-A177-3AD203B41FA5}">
                      <a16:colId xmlns:a16="http://schemas.microsoft.com/office/drawing/2014/main" val="1605504398"/>
                    </a:ext>
                  </a:extLst>
                </a:gridCol>
              </a:tblGrid>
              <a:tr h="484147">
                <a:tc>
                  <a:txBody>
                    <a:bodyPr/>
                    <a:lstStyle/>
                    <a:p>
                      <a:pPr>
                        <a:buNone/>
                      </a:pPr>
                      <a:r>
                        <a:rPr lang="en-IN" sz="1600" dirty="0"/>
                        <a:t>             </a:t>
                      </a:r>
                      <a:r>
                        <a:rPr lang="en-IN" sz="1600" b="1" dirty="0"/>
                        <a:t>Reference Paper</a:t>
                      </a:r>
                    </a:p>
                  </a:txBody>
                  <a:tcPr marL="19869" marR="19869" marT="9935" marB="9935" anchor="ctr"/>
                </a:tc>
                <a:tc>
                  <a:txBody>
                    <a:bodyPr/>
                    <a:lstStyle/>
                    <a:p>
                      <a:pPr>
                        <a:buNone/>
                      </a:pPr>
                      <a:r>
                        <a:rPr lang="en-IN" sz="1600" b="1" dirty="0"/>
                        <a:t>    Method Used</a:t>
                      </a:r>
                    </a:p>
                  </a:txBody>
                  <a:tcPr marL="19869" marR="19869" marT="9935" marB="9935" anchor="ctr"/>
                </a:tc>
                <a:tc>
                  <a:txBody>
                    <a:bodyPr/>
                    <a:lstStyle/>
                    <a:p>
                      <a:pPr>
                        <a:buNone/>
                      </a:pPr>
                      <a:r>
                        <a:rPr lang="en-IN" sz="1600" dirty="0"/>
                        <a:t> </a:t>
                      </a:r>
                      <a:r>
                        <a:rPr lang="en-IN" sz="1600" b="1" dirty="0"/>
                        <a:t>Year</a:t>
                      </a:r>
                    </a:p>
                  </a:txBody>
                  <a:tcPr marL="19869" marR="19869" marT="9935" marB="9935" anchor="ctr"/>
                </a:tc>
                <a:tc>
                  <a:txBody>
                    <a:bodyPr/>
                    <a:lstStyle/>
                    <a:p>
                      <a:pPr algn="just">
                        <a:buNone/>
                      </a:pPr>
                      <a:r>
                        <a:rPr lang="en-IN" sz="1600" b="1" dirty="0"/>
                        <a:t>Accuracy/ F1</a:t>
                      </a:r>
                    </a:p>
                  </a:txBody>
                  <a:tcPr marL="19869" marR="19869" marT="9935" marB="9935" anchor="ctr"/>
                </a:tc>
                <a:tc>
                  <a:txBody>
                    <a:bodyPr/>
                    <a:lstStyle/>
                    <a:p>
                      <a:pPr>
                        <a:buNone/>
                      </a:pPr>
                      <a:r>
                        <a:rPr lang="en-IN" sz="1600" b="1" dirty="0"/>
                        <a:t>               Strengths</a:t>
                      </a:r>
                    </a:p>
                  </a:txBody>
                  <a:tcPr marL="19869" marR="19869" marT="9935" marB="9935" anchor="ctr"/>
                </a:tc>
                <a:tc>
                  <a:txBody>
                    <a:bodyPr/>
                    <a:lstStyle/>
                    <a:p>
                      <a:pPr>
                        <a:buNone/>
                      </a:pPr>
                      <a:r>
                        <a:rPr lang="en-IN" sz="1600" dirty="0"/>
                        <a:t>       </a:t>
                      </a:r>
                      <a:r>
                        <a:rPr lang="en-IN" sz="1600" b="1" dirty="0"/>
                        <a:t>Limitations</a:t>
                      </a:r>
                    </a:p>
                  </a:txBody>
                  <a:tcPr marL="19869" marR="19869" marT="9935" marB="9935" anchor="ctr"/>
                </a:tc>
                <a:extLst>
                  <a:ext uri="{0D108BD9-81ED-4DB2-BD59-A6C34878D82A}">
                    <a16:rowId xmlns:a16="http://schemas.microsoft.com/office/drawing/2014/main" val="1195610117"/>
                  </a:ext>
                </a:extLst>
              </a:tr>
              <a:tr h="1181935">
                <a:tc>
                  <a:txBody>
                    <a:bodyPr/>
                    <a:lstStyle/>
                    <a:p>
                      <a:pPr algn="just">
                        <a:buNone/>
                      </a:pPr>
                      <a:r>
                        <a:rPr lang="en-US" sz="1600" dirty="0"/>
                        <a:t>AI-Powered Automated Resume Screening and Job Matching System – Kumar et al., IEEE Transactions on Computational Social Systems</a:t>
                      </a:r>
                    </a:p>
                  </a:txBody>
                  <a:tcPr marL="19869" marR="19869" marT="9935" marB="9935" anchor="ctr"/>
                </a:tc>
                <a:tc>
                  <a:txBody>
                    <a:bodyPr/>
                    <a:lstStyle/>
                    <a:p>
                      <a:pPr algn="just">
                        <a:buNone/>
                      </a:pPr>
                      <a:r>
                        <a:rPr lang="en-IN" sz="1600" dirty="0" err="1"/>
                        <a:t>mBERT</a:t>
                      </a:r>
                      <a:r>
                        <a:rPr lang="en-IN" sz="1600" dirty="0"/>
                        <a:t> + XLM-</a:t>
                      </a:r>
                      <a:r>
                        <a:rPr lang="en-IN" sz="1600" dirty="0" err="1"/>
                        <a:t>RoBERTa</a:t>
                      </a:r>
                      <a:r>
                        <a:rPr lang="en-IN" sz="1600" dirty="0"/>
                        <a:t> + Similarity</a:t>
                      </a:r>
                    </a:p>
                  </a:txBody>
                  <a:tcPr marL="19869" marR="19869" marT="9935" marB="9935" anchor="ctr"/>
                </a:tc>
                <a:tc>
                  <a:txBody>
                    <a:bodyPr/>
                    <a:lstStyle/>
                    <a:p>
                      <a:pPr>
                        <a:buNone/>
                      </a:pPr>
                      <a:r>
                        <a:rPr lang="en-IN" sz="1600" dirty="0"/>
                        <a:t> 2025</a:t>
                      </a:r>
                    </a:p>
                  </a:txBody>
                  <a:tcPr marL="19869" marR="19869" marT="9935" marB="9935" anchor="ctr"/>
                </a:tc>
                <a:tc>
                  <a:txBody>
                    <a:bodyPr/>
                    <a:lstStyle/>
                    <a:p>
                      <a:pPr>
                        <a:buNone/>
                      </a:pPr>
                      <a:r>
                        <a:rPr lang="en-IN" sz="1600"/>
                        <a:t>91% Accuracy</a:t>
                      </a:r>
                    </a:p>
                  </a:txBody>
                  <a:tcPr marL="19869" marR="19869" marT="9935" marB="9935" anchor="ctr"/>
                </a:tc>
                <a:tc>
                  <a:txBody>
                    <a:bodyPr/>
                    <a:lstStyle/>
                    <a:p>
                      <a:pPr algn="just">
                        <a:buNone/>
                      </a:pPr>
                      <a:r>
                        <a:rPr lang="en-US" sz="1600" dirty="0"/>
                        <a:t>Supports multilingual job matching and ranking</a:t>
                      </a:r>
                    </a:p>
                  </a:txBody>
                  <a:tcPr marL="19869" marR="19869" marT="9935" marB="9935" anchor="ctr"/>
                </a:tc>
                <a:tc>
                  <a:txBody>
                    <a:bodyPr/>
                    <a:lstStyle/>
                    <a:p>
                      <a:pPr algn="just">
                        <a:buNone/>
                      </a:pPr>
                      <a:r>
                        <a:rPr lang="en-US" sz="1600" dirty="0"/>
                        <a:t>Focuses more on matching than deep extraction</a:t>
                      </a:r>
                    </a:p>
                  </a:txBody>
                  <a:tcPr marL="19869" marR="19869" marT="9935" marB="9935" anchor="ctr"/>
                </a:tc>
                <a:extLst>
                  <a:ext uri="{0D108BD9-81ED-4DB2-BD59-A6C34878D82A}">
                    <a16:rowId xmlns:a16="http://schemas.microsoft.com/office/drawing/2014/main" val="310035897"/>
                  </a:ext>
                </a:extLst>
              </a:tr>
              <a:tr h="949339">
                <a:tc>
                  <a:txBody>
                    <a:bodyPr/>
                    <a:lstStyle/>
                    <a:p>
                      <a:pPr algn="just">
                        <a:buNone/>
                      </a:pPr>
                      <a:r>
                        <a:rPr lang="en-IN" sz="1600" dirty="0"/>
                        <a:t>Resume Information Extraction via Post-OCR Text Correction – Zhang et al., Expert Systems with Applications</a:t>
                      </a:r>
                    </a:p>
                  </a:txBody>
                  <a:tcPr marL="19869" marR="19869" marT="9935" marB="9935" anchor="ctr"/>
                </a:tc>
                <a:tc>
                  <a:txBody>
                    <a:bodyPr/>
                    <a:lstStyle/>
                    <a:p>
                      <a:pPr algn="just">
                        <a:buNone/>
                      </a:pPr>
                      <a:r>
                        <a:rPr lang="en-IN" sz="1600" dirty="0"/>
                        <a:t>Post-OCR + NLP Pipeline</a:t>
                      </a:r>
                    </a:p>
                  </a:txBody>
                  <a:tcPr marL="19869" marR="19869" marT="9935" marB="9935" anchor="ctr"/>
                </a:tc>
                <a:tc>
                  <a:txBody>
                    <a:bodyPr/>
                    <a:lstStyle/>
                    <a:p>
                      <a:pPr>
                        <a:buNone/>
                      </a:pPr>
                      <a:r>
                        <a:rPr lang="en-IN" sz="1600" dirty="0"/>
                        <a:t> 2023</a:t>
                      </a:r>
                    </a:p>
                  </a:txBody>
                  <a:tcPr marL="19869" marR="19869" marT="9935" marB="9935" anchor="ctr"/>
                </a:tc>
                <a:tc>
                  <a:txBody>
                    <a:bodyPr/>
                    <a:lstStyle/>
                    <a:p>
                      <a:pPr>
                        <a:buNone/>
                      </a:pPr>
                      <a:r>
                        <a:rPr lang="en-IN" sz="1600"/>
                        <a:t>85% F1-score</a:t>
                      </a:r>
                    </a:p>
                  </a:txBody>
                  <a:tcPr marL="19869" marR="19869" marT="9935" marB="9935" anchor="ctr"/>
                </a:tc>
                <a:tc>
                  <a:txBody>
                    <a:bodyPr/>
                    <a:lstStyle/>
                    <a:p>
                      <a:pPr algn="just">
                        <a:buNone/>
                      </a:pPr>
                      <a:r>
                        <a:rPr lang="en-US" sz="1600" dirty="0"/>
                        <a:t>Handles noisy scanned CVs effectively</a:t>
                      </a:r>
                    </a:p>
                  </a:txBody>
                  <a:tcPr marL="19869" marR="19869" marT="9935" marB="9935" anchor="ctr"/>
                </a:tc>
                <a:tc>
                  <a:txBody>
                    <a:bodyPr/>
                    <a:lstStyle/>
                    <a:p>
                      <a:pPr algn="just">
                        <a:buNone/>
                      </a:pPr>
                      <a:r>
                        <a:rPr lang="en-IN" sz="1600" dirty="0"/>
                        <a:t>Depends on OCR quality</a:t>
                      </a:r>
                    </a:p>
                  </a:txBody>
                  <a:tcPr marL="19869" marR="19869" marT="9935" marB="9935" anchor="ctr"/>
                </a:tc>
                <a:extLst>
                  <a:ext uri="{0D108BD9-81ED-4DB2-BD59-A6C34878D82A}">
                    <a16:rowId xmlns:a16="http://schemas.microsoft.com/office/drawing/2014/main" val="305690343"/>
                  </a:ext>
                </a:extLst>
              </a:tr>
              <a:tr h="1181935">
                <a:tc>
                  <a:txBody>
                    <a:bodyPr/>
                    <a:lstStyle/>
                    <a:p>
                      <a:pPr algn="just">
                        <a:buNone/>
                      </a:pPr>
                      <a:r>
                        <a:rPr lang="en-US" sz="1600" dirty="0"/>
                        <a:t>Resume Parser Using Hybrid Approach – Sharma et al., International Journal of Advanced Computer Science and Applications</a:t>
                      </a:r>
                    </a:p>
                  </a:txBody>
                  <a:tcPr marL="19869" marR="19869" marT="9935" marB="9935" anchor="ctr"/>
                </a:tc>
                <a:tc>
                  <a:txBody>
                    <a:bodyPr/>
                    <a:lstStyle/>
                    <a:p>
                      <a:pPr algn="just">
                        <a:buNone/>
                      </a:pPr>
                      <a:r>
                        <a:rPr lang="en-IN" sz="1600" dirty="0"/>
                        <a:t>Transformer + </a:t>
                      </a:r>
                      <a:r>
                        <a:rPr lang="en-IN" sz="1600" dirty="0" err="1"/>
                        <a:t>spaCy</a:t>
                      </a:r>
                      <a:r>
                        <a:rPr lang="en-IN" sz="1600" dirty="0"/>
                        <a:t> Hybrid</a:t>
                      </a:r>
                    </a:p>
                  </a:txBody>
                  <a:tcPr marL="19869" marR="19869" marT="9935" marB="9935" anchor="ctr"/>
                </a:tc>
                <a:tc>
                  <a:txBody>
                    <a:bodyPr/>
                    <a:lstStyle/>
                    <a:p>
                      <a:pPr>
                        <a:buNone/>
                      </a:pPr>
                      <a:r>
                        <a:rPr lang="en-IN" sz="1600" dirty="0"/>
                        <a:t> 2023</a:t>
                      </a:r>
                    </a:p>
                  </a:txBody>
                  <a:tcPr marL="19869" marR="19869" marT="9935" marB="9935" anchor="ctr"/>
                </a:tc>
                <a:tc>
                  <a:txBody>
                    <a:bodyPr/>
                    <a:lstStyle/>
                    <a:p>
                      <a:pPr>
                        <a:buNone/>
                      </a:pPr>
                      <a:r>
                        <a:rPr lang="en-IN" sz="1600"/>
                        <a:t>88% Accuracy</a:t>
                      </a:r>
                    </a:p>
                  </a:txBody>
                  <a:tcPr marL="19869" marR="19869" marT="9935" marB="9935" anchor="ctr"/>
                </a:tc>
                <a:tc>
                  <a:txBody>
                    <a:bodyPr/>
                    <a:lstStyle/>
                    <a:p>
                      <a:pPr algn="just">
                        <a:buNone/>
                      </a:pPr>
                      <a:r>
                        <a:rPr lang="en-US" sz="1600" dirty="0"/>
                        <a:t>Combines rule-based and DL methods for robustness</a:t>
                      </a:r>
                    </a:p>
                  </a:txBody>
                  <a:tcPr marL="19869" marR="19869" marT="9935" marB="9935" anchor="ctr"/>
                </a:tc>
                <a:tc>
                  <a:txBody>
                    <a:bodyPr/>
                    <a:lstStyle/>
                    <a:p>
                      <a:pPr algn="just">
                        <a:buNone/>
                      </a:pPr>
                      <a:r>
                        <a:rPr lang="en-IN" sz="1600" dirty="0"/>
                        <a:t>Increased system complexity</a:t>
                      </a:r>
                    </a:p>
                  </a:txBody>
                  <a:tcPr marL="19869" marR="19869" marT="9935" marB="9935" anchor="ctr"/>
                </a:tc>
                <a:extLst>
                  <a:ext uri="{0D108BD9-81ED-4DB2-BD59-A6C34878D82A}">
                    <a16:rowId xmlns:a16="http://schemas.microsoft.com/office/drawing/2014/main" val="3016618010"/>
                  </a:ext>
                </a:extLst>
              </a:tr>
              <a:tr h="723782">
                <a:tc>
                  <a:txBody>
                    <a:bodyPr/>
                    <a:lstStyle/>
                    <a:p>
                      <a:pPr algn="just">
                        <a:buNone/>
                      </a:pPr>
                      <a:r>
                        <a:rPr lang="en-US" sz="1600" dirty="0"/>
                        <a:t>Enhancing Human Resources Through Data Science – Singh et al., Journal of Big Data</a:t>
                      </a:r>
                    </a:p>
                  </a:txBody>
                  <a:tcPr marL="19869" marR="19869" marT="9935" marB="9935" anchor="ctr"/>
                </a:tc>
                <a:tc>
                  <a:txBody>
                    <a:bodyPr/>
                    <a:lstStyle/>
                    <a:p>
                      <a:pPr algn="just">
                        <a:buNone/>
                      </a:pPr>
                      <a:r>
                        <a:rPr lang="en-IN" sz="1600" dirty="0"/>
                        <a:t>XLM-</a:t>
                      </a:r>
                      <a:r>
                        <a:rPr lang="en-IN" sz="1600" dirty="0" err="1"/>
                        <a:t>RoBERTa</a:t>
                      </a:r>
                      <a:r>
                        <a:rPr lang="en-IN" sz="1600" dirty="0"/>
                        <a:t>-</a:t>
                      </a:r>
                      <a:r>
                        <a:rPr lang="en-IN" sz="1600" dirty="0" err="1"/>
                        <a:t>Longformer</a:t>
                      </a:r>
                      <a:endParaRPr lang="en-IN" sz="1600" dirty="0"/>
                    </a:p>
                  </a:txBody>
                  <a:tcPr marL="19869" marR="19869" marT="9935" marB="9935" anchor="ctr"/>
                </a:tc>
                <a:tc>
                  <a:txBody>
                    <a:bodyPr/>
                    <a:lstStyle/>
                    <a:p>
                      <a:pPr>
                        <a:buNone/>
                      </a:pPr>
                      <a:r>
                        <a:rPr lang="en-IN" sz="1600" dirty="0"/>
                        <a:t> 2023</a:t>
                      </a:r>
                    </a:p>
                  </a:txBody>
                  <a:tcPr marL="19869" marR="19869" marT="9935" marB="9935" anchor="ctr"/>
                </a:tc>
                <a:tc>
                  <a:txBody>
                    <a:bodyPr/>
                    <a:lstStyle/>
                    <a:p>
                      <a:pPr>
                        <a:buNone/>
                      </a:pPr>
                      <a:r>
                        <a:rPr lang="en-IN" sz="1600"/>
                        <a:t>89% F1-score</a:t>
                      </a:r>
                    </a:p>
                  </a:txBody>
                  <a:tcPr marL="19869" marR="19869" marT="9935" marB="9935" anchor="ctr"/>
                </a:tc>
                <a:tc>
                  <a:txBody>
                    <a:bodyPr/>
                    <a:lstStyle/>
                    <a:p>
                      <a:pPr algn="just">
                        <a:buNone/>
                      </a:pPr>
                      <a:r>
                        <a:rPr lang="en-US" sz="1600" dirty="0"/>
                        <a:t>Handles long documents and multilingual data</a:t>
                      </a:r>
                    </a:p>
                  </a:txBody>
                  <a:tcPr marL="19869" marR="19869" marT="9935" marB="9935" anchor="ctr"/>
                </a:tc>
                <a:tc>
                  <a:txBody>
                    <a:bodyPr/>
                    <a:lstStyle/>
                    <a:p>
                      <a:pPr algn="just">
                        <a:buNone/>
                      </a:pPr>
                      <a:r>
                        <a:rPr lang="en-IN" sz="1600" dirty="0"/>
                        <a:t>High computational cost</a:t>
                      </a:r>
                    </a:p>
                  </a:txBody>
                  <a:tcPr marL="19869" marR="19869" marT="9935" marB="9935" anchor="ctr"/>
                </a:tc>
                <a:extLst>
                  <a:ext uri="{0D108BD9-81ED-4DB2-BD59-A6C34878D82A}">
                    <a16:rowId xmlns:a16="http://schemas.microsoft.com/office/drawing/2014/main" val="29528716"/>
                  </a:ext>
                </a:extLst>
              </a:tr>
            </a:tbl>
          </a:graphicData>
        </a:graphic>
      </p:graphicFrame>
    </p:spTree>
    <p:extLst>
      <p:ext uri="{BB962C8B-B14F-4D97-AF65-F5344CB8AC3E}">
        <p14:creationId xmlns:p14="http://schemas.microsoft.com/office/powerpoint/2010/main" val="1901856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BD166-125E-D6F1-A4DE-56B6AE95D86D}"/>
              </a:ext>
            </a:extLst>
          </p:cNvPr>
          <p:cNvSpPr>
            <a:spLocks noGrp="1"/>
          </p:cNvSpPr>
          <p:nvPr>
            <p:ph type="title"/>
          </p:nvPr>
        </p:nvSpPr>
        <p:spPr>
          <a:xfrm>
            <a:off x="3650226" y="0"/>
            <a:ext cx="10515600" cy="1325563"/>
          </a:xfrm>
        </p:spPr>
        <p:txBody>
          <a:bodyPr>
            <a:normAutofit/>
          </a:bodyPr>
          <a:lstStyle/>
          <a:p>
            <a:r>
              <a:rPr lang="en-IN" sz="4000" dirty="0"/>
              <a:t>LITERATURE SURVEY</a:t>
            </a:r>
          </a:p>
        </p:txBody>
      </p:sp>
      <p:graphicFrame>
        <p:nvGraphicFramePr>
          <p:cNvPr id="20" name="Content Placeholder 19">
            <a:extLst>
              <a:ext uri="{FF2B5EF4-FFF2-40B4-BE49-F238E27FC236}">
                <a16:creationId xmlns:a16="http://schemas.microsoft.com/office/drawing/2014/main" id="{7A551BEC-FFE4-179F-01AE-6177F7D5466B}"/>
              </a:ext>
            </a:extLst>
          </p:cNvPr>
          <p:cNvGraphicFramePr>
            <a:graphicFrameLocks noGrp="1"/>
          </p:cNvGraphicFramePr>
          <p:nvPr>
            <p:ph idx="1"/>
            <p:extLst>
              <p:ext uri="{D42A27DB-BD31-4B8C-83A1-F6EECF244321}">
                <p14:modId xmlns:p14="http://schemas.microsoft.com/office/powerpoint/2010/main" val="3780469280"/>
              </p:ext>
            </p:extLst>
          </p:nvPr>
        </p:nvGraphicFramePr>
        <p:xfrm>
          <a:off x="812439" y="1325563"/>
          <a:ext cx="10859729" cy="4618285"/>
        </p:xfrm>
        <a:graphic>
          <a:graphicData uri="http://schemas.openxmlformats.org/drawingml/2006/table">
            <a:tbl>
              <a:tblPr>
                <a:tableStyleId>{616DA210-FB5B-4158-B5E0-FEB733F419BA}</a:tableStyleId>
              </a:tblPr>
              <a:tblGrid>
                <a:gridCol w="3355259">
                  <a:extLst>
                    <a:ext uri="{9D8B030D-6E8A-4147-A177-3AD203B41FA5}">
                      <a16:colId xmlns:a16="http://schemas.microsoft.com/office/drawing/2014/main" val="4280404153"/>
                    </a:ext>
                  </a:extLst>
                </a:gridCol>
                <a:gridCol w="1551038">
                  <a:extLst>
                    <a:ext uri="{9D8B030D-6E8A-4147-A177-3AD203B41FA5}">
                      <a16:colId xmlns:a16="http://schemas.microsoft.com/office/drawing/2014/main" val="682574475"/>
                    </a:ext>
                  </a:extLst>
                </a:gridCol>
                <a:gridCol w="727587">
                  <a:extLst>
                    <a:ext uri="{9D8B030D-6E8A-4147-A177-3AD203B41FA5}">
                      <a16:colId xmlns:a16="http://schemas.microsoft.com/office/drawing/2014/main" val="3824130828"/>
                    </a:ext>
                  </a:extLst>
                </a:gridCol>
                <a:gridCol w="1332638">
                  <a:extLst>
                    <a:ext uri="{9D8B030D-6E8A-4147-A177-3AD203B41FA5}">
                      <a16:colId xmlns:a16="http://schemas.microsoft.com/office/drawing/2014/main" val="3776540719"/>
                    </a:ext>
                  </a:extLst>
                </a:gridCol>
                <a:gridCol w="2022620">
                  <a:extLst>
                    <a:ext uri="{9D8B030D-6E8A-4147-A177-3AD203B41FA5}">
                      <a16:colId xmlns:a16="http://schemas.microsoft.com/office/drawing/2014/main" val="1501383508"/>
                    </a:ext>
                  </a:extLst>
                </a:gridCol>
                <a:gridCol w="1870587">
                  <a:extLst>
                    <a:ext uri="{9D8B030D-6E8A-4147-A177-3AD203B41FA5}">
                      <a16:colId xmlns:a16="http://schemas.microsoft.com/office/drawing/2014/main" val="1135709592"/>
                    </a:ext>
                  </a:extLst>
                </a:gridCol>
              </a:tblGrid>
              <a:tr h="552232">
                <a:tc>
                  <a:txBody>
                    <a:bodyPr/>
                    <a:lstStyle/>
                    <a:p>
                      <a:pPr>
                        <a:buNone/>
                      </a:pPr>
                      <a:r>
                        <a:rPr lang="en-IN" sz="1600"/>
                        <a:t>Paper (Title, Author, Publication)</a:t>
                      </a:r>
                    </a:p>
                  </a:txBody>
                  <a:tcPr marL="19876" marR="19876" marT="9938" marB="9938" anchor="ctr"/>
                </a:tc>
                <a:tc>
                  <a:txBody>
                    <a:bodyPr/>
                    <a:lstStyle/>
                    <a:p>
                      <a:pPr>
                        <a:buNone/>
                      </a:pPr>
                      <a:r>
                        <a:rPr lang="en-IN" sz="1600"/>
                        <a:t>Method Used</a:t>
                      </a:r>
                    </a:p>
                  </a:txBody>
                  <a:tcPr marL="19876" marR="19876" marT="9938" marB="9938" anchor="ctr"/>
                </a:tc>
                <a:tc>
                  <a:txBody>
                    <a:bodyPr/>
                    <a:lstStyle/>
                    <a:p>
                      <a:pPr>
                        <a:buNone/>
                      </a:pPr>
                      <a:r>
                        <a:rPr lang="en-IN" sz="1600"/>
                        <a:t>Year</a:t>
                      </a:r>
                    </a:p>
                  </a:txBody>
                  <a:tcPr marL="19876" marR="19876" marT="9938" marB="9938" anchor="ctr"/>
                </a:tc>
                <a:tc>
                  <a:txBody>
                    <a:bodyPr/>
                    <a:lstStyle/>
                    <a:p>
                      <a:pPr>
                        <a:buNone/>
                      </a:pPr>
                      <a:r>
                        <a:rPr lang="en-IN" sz="1600"/>
                        <a:t>Accuracy / F1</a:t>
                      </a:r>
                    </a:p>
                  </a:txBody>
                  <a:tcPr marL="19876" marR="19876" marT="9938" marB="9938" anchor="ctr"/>
                </a:tc>
                <a:tc>
                  <a:txBody>
                    <a:bodyPr/>
                    <a:lstStyle/>
                    <a:p>
                      <a:pPr>
                        <a:buNone/>
                      </a:pPr>
                      <a:r>
                        <a:rPr lang="en-IN" sz="1600"/>
                        <a:t>Strengths</a:t>
                      </a:r>
                    </a:p>
                  </a:txBody>
                  <a:tcPr marL="19876" marR="19876" marT="9938" marB="9938" anchor="ctr"/>
                </a:tc>
                <a:tc>
                  <a:txBody>
                    <a:bodyPr/>
                    <a:lstStyle/>
                    <a:p>
                      <a:pPr>
                        <a:buNone/>
                      </a:pPr>
                      <a:r>
                        <a:rPr lang="en-IN" sz="1600"/>
                        <a:t>Limitations</a:t>
                      </a:r>
                    </a:p>
                  </a:txBody>
                  <a:tcPr marL="19876" marR="19876" marT="9938" marB="9938" anchor="ctr"/>
                </a:tc>
                <a:extLst>
                  <a:ext uri="{0D108BD9-81ED-4DB2-BD59-A6C34878D82A}">
                    <a16:rowId xmlns:a16="http://schemas.microsoft.com/office/drawing/2014/main" val="1095710728"/>
                  </a:ext>
                </a:extLst>
              </a:tr>
              <a:tr h="1082839">
                <a:tc>
                  <a:txBody>
                    <a:bodyPr/>
                    <a:lstStyle/>
                    <a:p>
                      <a:pPr algn="just">
                        <a:buNone/>
                      </a:pPr>
                      <a:r>
                        <a:rPr lang="en-US" sz="1600" dirty="0"/>
                        <a:t>End-to-End Framework for Information Extraction from Italian Resumes – Barducci et al., LREC Proceedings</a:t>
                      </a:r>
                    </a:p>
                  </a:txBody>
                  <a:tcPr marL="19876" marR="19876" marT="9938" marB="9938" anchor="ctr"/>
                </a:tc>
                <a:tc>
                  <a:txBody>
                    <a:bodyPr/>
                    <a:lstStyle/>
                    <a:p>
                      <a:pPr algn="just">
                        <a:buNone/>
                      </a:pPr>
                      <a:r>
                        <a:rPr lang="en-IN" sz="1600" dirty="0"/>
                        <a:t>Segmentation + Pretrained LM</a:t>
                      </a:r>
                    </a:p>
                  </a:txBody>
                  <a:tcPr marL="19876" marR="19876" marT="9938" marB="9938" anchor="ctr"/>
                </a:tc>
                <a:tc>
                  <a:txBody>
                    <a:bodyPr/>
                    <a:lstStyle/>
                    <a:p>
                      <a:pPr>
                        <a:buNone/>
                      </a:pPr>
                      <a:r>
                        <a:rPr lang="en-IN" sz="1600"/>
                        <a:t>2022</a:t>
                      </a:r>
                    </a:p>
                  </a:txBody>
                  <a:tcPr marL="19876" marR="19876" marT="9938" marB="9938" anchor="ctr"/>
                </a:tc>
                <a:tc>
                  <a:txBody>
                    <a:bodyPr/>
                    <a:lstStyle/>
                    <a:p>
                      <a:pPr>
                        <a:buNone/>
                      </a:pPr>
                      <a:r>
                        <a:rPr lang="en-IN" sz="1600"/>
                        <a:t>87% F1-score</a:t>
                      </a:r>
                    </a:p>
                  </a:txBody>
                  <a:tcPr marL="19876" marR="19876" marT="9938" marB="9938" anchor="ctr"/>
                </a:tc>
                <a:tc>
                  <a:txBody>
                    <a:bodyPr/>
                    <a:lstStyle/>
                    <a:p>
                      <a:pPr algn="just">
                        <a:buNone/>
                      </a:pPr>
                      <a:r>
                        <a:rPr lang="en-US" sz="1600" dirty="0"/>
                        <a:t>Works well on real-world unstructured resumes</a:t>
                      </a:r>
                    </a:p>
                  </a:txBody>
                  <a:tcPr marL="19876" marR="19876" marT="9938" marB="9938" anchor="ctr"/>
                </a:tc>
                <a:tc>
                  <a:txBody>
                    <a:bodyPr/>
                    <a:lstStyle/>
                    <a:p>
                      <a:pPr algn="just">
                        <a:buNone/>
                      </a:pPr>
                      <a:r>
                        <a:rPr lang="en-US" sz="1600" dirty="0"/>
                        <a:t>Limited to specific language dataset</a:t>
                      </a:r>
                    </a:p>
                  </a:txBody>
                  <a:tcPr marL="19876" marR="19876" marT="9938" marB="9938" anchor="ctr"/>
                </a:tc>
                <a:extLst>
                  <a:ext uri="{0D108BD9-81ED-4DB2-BD59-A6C34878D82A}">
                    <a16:rowId xmlns:a16="http://schemas.microsoft.com/office/drawing/2014/main" val="382352863"/>
                  </a:ext>
                </a:extLst>
              </a:tr>
              <a:tr h="1082839">
                <a:tc>
                  <a:txBody>
                    <a:bodyPr/>
                    <a:lstStyle/>
                    <a:p>
                      <a:pPr algn="just">
                        <a:buNone/>
                      </a:pPr>
                      <a:r>
                        <a:rPr lang="en-IN" sz="1600" dirty="0"/>
                        <a:t>Information Extraction from Free-Form CV Documents in Multiple Languages – Vukadin et al., IEEE Access</a:t>
                      </a:r>
                    </a:p>
                  </a:txBody>
                  <a:tcPr marL="19876" marR="19876" marT="9938" marB="9938" anchor="ctr"/>
                </a:tc>
                <a:tc>
                  <a:txBody>
                    <a:bodyPr/>
                    <a:lstStyle/>
                    <a:p>
                      <a:pPr algn="just">
                        <a:buNone/>
                      </a:pPr>
                      <a:r>
                        <a:rPr lang="en-IN" sz="1600" dirty="0"/>
                        <a:t>Multilingual BERT Dual Model</a:t>
                      </a:r>
                    </a:p>
                  </a:txBody>
                  <a:tcPr marL="19876" marR="19876" marT="9938" marB="9938" anchor="ctr"/>
                </a:tc>
                <a:tc>
                  <a:txBody>
                    <a:bodyPr/>
                    <a:lstStyle/>
                    <a:p>
                      <a:pPr>
                        <a:buNone/>
                      </a:pPr>
                      <a:r>
                        <a:rPr lang="en-IN" sz="1600"/>
                        <a:t>2021</a:t>
                      </a:r>
                    </a:p>
                  </a:txBody>
                  <a:tcPr marL="19876" marR="19876" marT="9938" marB="9938" anchor="ctr"/>
                </a:tc>
                <a:tc>
                  <a:txBody>
                    <a:bodyPr/>
                    <a:lstStyle/>
                    <a:p>
                      <a:pPr>
                        <a:buNone/>
                      </a:pPr>
                      <a:r>
                        <a:rPr lang="en-IN" sz="1600"/>
                        <a:t>90% F1-score</a:t>
                      </a:r>
                    </a:p>
                  </a:txBody>
                  <a:tcPr marL="19876" marR="19876" marT="9938" marB="9938" anchor="ctr"/>
                </a:tc>
                <a:tc>
                  <a:txBody>
                    <a:bodyPr/>
                    <a:lstStyle/>
                    <a:p>
                      <a:pPr algn="just">
                        <a:buNone/>
                      </a:pPr>
                      <a:r>
                        <a:rPr lang="en-IN" sz="1600" dirty="0"/>
                        <a:t>Joint section &amp; entity extraction improves accuracy</a:t>
                      </a:r>
                    </a:p>
                  </a:txBody>
                  <a:tcPr marL="19876" marR="19876" marT="9938" marB="9938" anchor="ctr"/>
                </a:tc>
                <a:tc>
                  <a:txBody>
                    <a:bodyPr/>
                    <a:lstStyle/>
                    <a:p>
                      <a:pPr algn="just">
                        <a:buNone/>
                      </a:pPr>
                      <a:r>
                        <a:rPr lang="en-US" sz="1600" dirty="0"/>
                        <a:t>Limited scalability for very diverse formats</a:t>
                      </a:r>
                    </a:p>
                  </a:txBody>
                  <a:tcPr marL="19876" marR="19876" marT="9938" marB="9938" anchor="ctr"/>
                </a:tc>
                <a:extLst>
                  <a:ext uri="{0D108BD9-81ED-4DB2-BD59-A6C34878D82A}">
                    <a16:rowId xmlns:a16="http://schemas.microsoft.com/office/drawing/2014/main" val="967770741"/>
                  </a:ext>
                </a:extLst>
              </a:tr>
              <a:tr h="1082839">
                <a:tc>
                  <a:txBody>
                    <a:bodyPr/>
                    <a:lstStyle/>
                    <a:p>
                      <a:pPr algn="just">
                        <a:buNone/>
                      </a:pPr>
                      <a:r>
                        <a:rPr lang="en-IN" sz="1600" dirty="0" err="1"/>
                        <a:t>LayoutXLM</a:t>
                      </a:r>
                      <a:r>
                        <a:rPr lang="en-IN" sz="1600" dirty="0"/>
                        <a:t>: Multimodal Pre-training for Multilingual Document Understanding – Xu et al., </a:t>
                      </a:r>
                      <a:r>
                        <a:rPr lang="en-IN" sz="1600" dirty="0" err="1"/>
                        <a:t>arXiv</a:t>
                      </a:r>
                      <a:endParaRPr lang="en-IN" sz="1600" dirty="0"/>
                    </a:p>
                  </a:txBody>
                  <a:tcPr marL="19876" marR="19876" marT="9938" marB="9938" anchor="ctr"/>
                </a:tc>
                <a:tc>
                  <a:txBody>
                    <a:bodyPr/>
                    <a:lstStyle/>
                    <a:p>
                      <a:pPr algn="just">
                        <a:buNone/>
                      </a:pPr>
                      <a:r>
                        <a:rPr lang="en-IN" sz="1600" dirty="0" err="1"/>
                        <a:t>LayoutXLM</a:t>
                      </a:r>
                      <a:r>
                        <a:rPr lang="en-IN" sz="1600" dirty="0"/>
                        <a:t> (Multimodal Transformer)</a:t>
                      </a:r>
                    </a:p>
                  </a:txBody>
                  <a:tcPr marL="19876" marR="19876" marT="9938" marB="9938" anchor="ctr"/>
                </a:tc>
                <a:tc>
                  <a:txBody>
                    <a:bodyPr/>
                    <a:lstStyle/>
                    <a:p>
                      <a:pPr>
                        <a:buNone/>
                      </a:pPr>
                      <a:r>
                        <a:rPr lang="en-IN" sz="1600"/>
                        <a:t>2021</a:t>
                      </a:r>
                    </a:p>
                  </a:txBody>
                  <a:tcPr marL="19876" marR="19876" marT="9938" marB="9938" anchor="ctr"/>
                </a:tc>
                <a:tc>
                  <a:txBody>
                    <a:bodyPr/>
                    <a:lstStyle/>
                    <a:p>
                      <a:pPr>
                        <a:buNone/>
                      </a:pPr>
                      <a:r>
                        <a:rPr lang="en-IN" sz="1600"/>
                        <a:t>79.2% F1-score</a:t>
                      </a:r>
                    </a:p>
                  </a:txBody>
                  <a:tcPr marL="19876" marR="19876" marT="9938" marB="9938" anchor="ctr"/>
                </a:tc>
                <a:tc>
                  <a:txBody>
                    <a:bodyPr/>
                    <a:lstStyle/>
                    <a:p>
                      <a:pPr algn="just">
                        <a:buNone/>
                      </a:pPr>
                      <a:r>
                        <a:rPr lang="en-IN" sz="1600" dirty="0"/>
                        <a:t>Uses layout + text for better understanding</a:t>
                      </a:r>
                    </a:p>
                  </a:txBody>
                  <a:tcPr marL="19876" marR="19876" marT="9938" marB="9938" anchor="ctr"/>
                </a:tc>
                <a:tc>
                  <a:txBody>
                    <a:bodyPr/>
                    <a:lstStyle/>
                    <a:p>
                      <a:pPr algn="just">
                        <a:buNone/>
                      </a:pPr>
                      <a:r>
                        <a:rPr lang="en-IN" sz="1600" dirty="0"/>
                        <a:t>Requires layout/visual data</a:t>
                      </a:r>
                    </a:p>
                  </a:txBody>
                  <a:tcPr marL="19876" marR="19876" marT="9938" marB="9938" anchor="ctr"/>
                </a:tc>
                <a:extLst>
                  <a:ext uri="{0D108BD9-81ED-4DB2-BD59-A6C34878D82A}">
                    <a16:rowId xmlns:a16="http://schemas.microsoft.com/office/drawing/2014/main" val="4241667634"/>
                  </a:ext>
                </a:extLst>
              </a:tr>
              <a:tr h="817536">
                <a:tc>
                  <a:txBody>
                    <a:bodyPr/>
                    <a:lstStyle/>
                    <a:p>
                      <a:pPr algn="just">
                        <a:buNone/>
                      </a:pPr>
                      <a:r>
                        <a:rPr lang="en-US" sz="1600" dirty="0"/>
                        <a:t>Unsupervised Cross-lingual Representation Learning at Scale – Conneau et al., ACL</a:t>
                      </a:r>
                    </a:p>
                  </a:txBody>
                  <a:tcPr marL="19876" marR="19876" marT="9938" marB="9938" anchor="ctr"/>
                </a:tc>
                <a:tc>
                  <a:txBody>
                    <a:bodyPr/>
                    <a:lstStyle/>
                    <a:p>
                      <a:pPr>
                        <a:buNone/>
                      </a:pPr>
                      <a:r>
                        <a:rPr lang="en-IN" sz="1600" dirty="0"/>
                        <a:t>  XLM-</a:t>
                      </a:r>
                      <a:r>
                        <a:rPr lang="en-IN" sz="1600" dirty="0" err="1"/>
                        <a:t>RoBERTa</a:t>
                      </a:r>
                      <a:endParaRPr lang="en-IN" sz="1600" dirty="0"/>
                    </a:p>
                  </a:txBody>
                  <a:tcPr marL="19876" marR="19876" marT="9938" marB="9938" anchor="ctr"/>
                </a:tc>
                <a:tc>
                  <a:txBody>
                    <a:bodyPr/>
                    <a:lstStyle/>
                    <a:p>
                      <a:pPr>
                        <a:buNone/>
                      </a:pPr>
                      <a:r>
                        <a:rPr lang="en-IN" sz="1600"/>
                        <a:t>2020</a:t>
                      </a:r>
                    </a:p>
                  </a:txBody>
                  <a:tcPr marL="19876" marR="19876" marT="9938" marB="9938" anchor="ctr"/>
                </a:tc>
                <a:tc>
                  <a:txBody>
                    <a:bodyPr/>
                    <a:lstStyle/>
                    <a:p>
                      <a:pPr>
                        <a:buNone/>
                      </a:pPr>
                      <a:r>
                        <a:rPr lang="en-IN" sz="1600"/>
                        <a:t>65.4% F1-score</a:t>
                      </a:r>
                    </a:p>
                  </a:txBody>
                  <a:tcPr marL="19876" marR="19876" marT="9938" marB="9938" anchor="ctr"/>
                </a:tc>
                <a:tc>
                  <a:txBody>
                    <a:bodyPr/>
                    <a:lstStyle/>
                    <a:p>
                      <a:pPr algn="just">
                        <a:buNone/>
                      </a:pPr>
                      <a:r>
                        <a:rPr lang="en-IN" sz="1600" dirty="0"/>
                        <a:t>Strong multilingual representation learning</a:t>
                      </a:r>
                    </a:p>
                  </a:txBody>
                  <a:tcPr marL="19876" marR="19876" marT="9938" marB="9938" anchor="ctr"/>
                </a:tc>
                <a:tc>
                  <a:txBody>
                    <a:bodyPr/>
                    <a:lstStyle/>
                    <a:p>
                      <a:pPr algn="just">
                        <a:buNone/>
                      </a:pPr>
                      <a:r>
                        <a:rPr lang="en-IN" sz="1600" dirty="0"/>
                        <a:t>Lower task-specific performance</a:t>
                      </a:r>
                    </a:p>
                  </a:txBody>
                  <a:tcPr marL="19876" marR="19876" marT="9938" marB="9938" anchor="ctr"/>
                </a:tc>
                <a:extLst>
                  <a:ext uri="{0D108BD9-81ED-4DB2-BD59-A6C34878D82A}">
                    <a16:rowId xmlns:a16="http://schemas.microsoft.com/office/drawing/2014/main" val="1380397584"/>
                  </a:ext>
                </a:extLst>
              </a:tr>
            </a:tbl>
          </a:graphicData>
        </a:graphic>
      </p:graphicFrame>
    </p:spTree>
    <p:extLst>
      <p:ext uri="{BB962C8B-B14F-4D97-AF65-F5344CB8AC3E}">
        <p14:creationId xmlns:p14="http://schemas.microsoft.com/office/powerpoint/2010/main" val="3051066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347" y="200533"/>
            <a:ext cx="4665306" cy="1325563"/>
          </a:xfrm>
        </p:spPr>
        <p:txBody>
          <a:bodyPr/>
          <a:lstStyle/>
          <a:p>
            <a:r>
              <a:rPr lang="en-IN" dirty="0"/>
              <a:t>RESEARCH GAP</a:t>
            </a:r>
          </a:p>
        </p:txBody>
      </p:sp>
      <p:sp>
        <p:nvSpPr>
          <p:cNvPr id="3" name="Content Placeholder 2"/>
          <p:cNvSpPr>
            <a:spLocks noGrp="1"/>
          </p:cNvSpPr>
          <p:nvPr>
            <p:ph idx="1"/>
          </p:nvPr>
        </p:nvSpPr>
        <p:spPr>
          <a:xfrm>
            <a:off x="848308" y="1526096"/>
            <a:ext cx="10495384" cy="3974839"/>
          </a:xfrm>
        </p:spPr>
        <p:txBody>
          <a:bodyPr>
            <a:noAutofit/>
          </a:bodyPr>
          <a:lstStyle/>
          <a:p>
            <a:pPr algn="just"/>
            <a:r>
              <a:rPr lang="en-US" sz="2000" dirty="0"/>
              <a:t>Most existing systems focus only on Named Entity Recognition (NER) and ignore section-level classification </a:t>
            </a:r>
          </a:p>
          <a:p>
            <a:pPr algn="just"/>
            <a:r>
              <a:rPr lang="en-US" sz="2000" dirty="0"/>
              <a:t>Lack of unified models that perform both entity extraction and structural classification together </a:t>
            </a:r>
          </a:p>
          <a:p>
            <a:pPr algn="just"/>
            <a:r>
              <a:rPr lang="en-US" sz="2000" dirty="0"/>
              <a:t>Many approaches are designed for single-language CVs, limiting real-world applicability </a:t>
            </a:r>
          </a:p>
          <a:p>
            <a:pPr algn="just"/>
            <a:r>
              <a:rPr lang="en-US" sz="2000" dirty="0"/>
              <a:t>Multilingual handling is still insufficient, especially for diverse and low-resource languages </a:t>
            </a:r>
          </a:p>
          <a:p>
            <a:pPr algn="just"/>
            <a:r>
              <a:rPr lang="en-US" sz="2000" dirty="0"/>
              <a:t>Traditional and hybrid methods rely on manual feature engineering, reducing scalability </a:t>
            </a:r>
          </a:p>
          <a:p>
            <a:pPr algn="just"/>
            <a:r>
              <a:rPr lang="en-US" sz="2000" dirty="0"/>
              <a:t>Some models struggle with unstructured and highly varied CV formats </a:t>
            </a:r>
          </a:p>
          <a:p>
            <a:pPr algn="just"/>
            <a:r>
              <a:rPr lang="en-US" sz="2000" dirty="0"/>
              <a:t>Multimodal approaches (like </a:t>
            </a:r>
            <a:r>
              <a:rPr lang="en-US" sz="2000" dirty="0" err="1"/>
              <a:t>LayoutXLM</a:t>
            </a:r>
            <a:r>
              <a:rPr lang="en-US" sz="2000" dirty="0"/>
              <a:t>) require layout/visual data, increasing complexity </a:t>
            </a:r>
          </a:p>
          <a:p>
            <a:pPr algn="just"/>
            <a:r>
              <a:rPr lang="en-US" sz="2000" dirty="0"/>
              <a:t>High-performing transformer models often have high computational cost </a:t>
            </a:r>
          </a:p>
          <a:p>
            <a:pPr algn="just"/>
            <a:r>
              <a:rPr lang="en-US" sz="2000" dirty="0"/>
              <a:t>Limited focus on efficient, scalable, real-time recruitment systems </a:t>
            </a:r>
          </a:p>
          <a:p>
            <a:pPr marL="0" indent="0">
              <a:buNone/>
            </a:pPr>
            <a:endParaRPr lang="en-IN" sz="1800" dirty="0"/>
          </a:p>
        </p:txBody>
      </p:sp>
    </p:spTree>
    <p:extLst>
      <p:ext uri="{BB962C8B-B14F-4D97-AF65-F5344CB8AC3E}">
        <p14:creationId xmlns:p14="http://schemas.microsoft.com/office/powerpoint/2010/main" val="258387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6274" y="0"/>
            <a:ext cx="7128588" cy="1240971"/>
          </a:xfrm>
        </p:spPr>
        <p:txBody>
          <a:bodyPr/>
          <a:lstStyle/>
          <a:p>
            <a:r>
              <a:rPr lang="en-IN" dirty="0"/>
              <a:t>PROJECT OBJECTIVES</a:t>
            </a:r>
          </a:p>
        </p:txBody>
      </p:sp>
      <p:sp>
        <p:nvSpPr>
          <p:cNvPr id="3" name="Content Placeholder 2"/>
          <p:cNvSpPr>
            <a:spLocks noGrp="1"/>
          </p:cNvSpPr>
          <p:nvPr>
            <p:ph idx="1"/>
          </p:nvPr>
        </p:nvSpPr>
        <p:spPr>
          <a:xfrm>
            <a:off x="826474" y="1124290"/>
            <a:ext cx="10392747" cy="4609420"/>
          </a:xfrm>
        </p:spPr>
        <p:txBody>
          <a:bodyPr>
            <a:noAutofit/>
          </a:bodyPr>
          <a:lstStyle/>
          <a:p>
            <a:pPr algn="just"/>
            <a:r>
              <a:rPr lang="en-US" sz="2000" dirty="0"/>
              <a:t>To design an intelligent system that converts unstructured CV data into structured, machine-readable format.</a:t>
            </a:r>
          </a:p>
          <a:p>
            <a:pPr algn="just"/>
            <a:r>
              <a:rPr lang="en-US" sz="2000" dirty="0"/>
              <a:t>To develop a multilingual CV parsing model using XLM-</a:t>
            </a:r>
            <a:r>
              <a:rPr lang="en-US" sz="2000" dirty="0" err="1"/>
              <a:t>RoBERTa</a:t>
            </a:r>
            <a:r>
              <a:rPr lang="en-US" sz="2000" dirty="0"/>
              <a:t> for improved language adaptability.</a:t>
            </a:r>
          </a:p>
          <a:p>
            <a:pPr algn="just"/>
            <a:r>
              <a:rPr lang="en-US" sz="2000" dirty="0"/>
              <a:t>To perform section-level classification of CV content such as education, skills, and employment details.</a:t>
            </a:r>
          </a:p>
          <a:p>
            <a:pPr algn="just"/>
            <a:r>
              <a:rPr lang="en-US" sz="2000" dirty="0"/>
              <a:t>To extract item-level entities like name, organization, role, date, and location with high accuracy.</a:t>
            </a:r>
          </a:p>
          <a:p>
            <a:pPr algn="just"/>
            <a:r>
              <a:rPr lang="en-US" sz="2000" dirty="0"/>
              <a:t>To build a unified end-to-end framework integrating section-level and entity-level extraction.</a:t>
            </a:r>
          </a:p>
          <a:p>
            <a:pPr algn="just"/>
            <a:r>
              <a:rPr lang="en-US" sz="2000" dirty="0"/>
              <a:t>To improve model accuracy using contextual understanding of textual information in CVs.</a:t>
            </a:r>
          </a:p>
          <a:p>
            <a:pPr algn="just"/>
            <a:r>
              <a:rPr lang="en-US" sz="2000" dirty="0"/>
              <a:t>To reduce dependency on manual rules and feature engineering using deep learning techniques.</a:t>
            </a:r>
          </a:p>
          <a:p>
            <a:pPr algn="just"/>
            <a:r>
              <a:rPr lang="en-US" sz="2000" dirty="0"/>
              <a:t>To ensure robust performance across diverse CV formats, layouts, and multilingual data.</a:t>
            </a:r>
          </a:p>
          <a:p>
            <a:pPr algn="just"/>
            <a:r>
              <a:rPr lang="en-US" sz="2000" dirty="0"/>
              <a:t>To enable efficient and scalable solutions for real-world recruitment and resume processing systems.</a:t>
            </a:r>
            <a:endParaRPr lang="en-IN" sz="2000" dirty="0"/>
          </a:p>
        </p:txBody>
      </p:sp>
    </p:spTree>
    <p:extLst>
      <p:ext uri="{BB962C8B-B14F-4D97-AF65-F5344CB8AC3E}">
        <p14:creationId xmlns:p14="http://schemas.microsoft.com/office/powerpoint/2010/main" val="4191662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7371" y="474342"/>
            <a:ext cx="6357257" cy="968827"/>
          </a:xfrm>
        </p:spPr>
        <p:txBody>
          <a:bodyPr>
            <a:normAutofit fontScale="90000"/>
          </a:bodyPr>
          <a:lstStyle/>
          <a:p>
            <a:r>
              <a:rPr lang="en-US" dirty="0"/>
              <a:t>PROPOSED METHODOLOGY</a:t>
            </a:r>
            <a:endParaRPr lang="en-IN" dirty="0"/>
          </a:p>
        </p:txBody>
      </p:sp>
      <p:sp>
        <p:nvSpPr>
          <p:cNvPr id="4" name="TextBox 3">
            <a:extLst>
              <a:ext uri="{FF2B5EF4-FFF2-40B4-BE49-F238E27FC236}">
                <a16:creationId xmlns:a16="http://schemas.microsoft.com/office/drawing/2014/main" id="{8AD054E4-F91F-F4B4-43E3-D9FDDD3D666F}"/>
              </a:ext>
            </a:extLst>
          </p:cNvPr>
          <p:cNvSpPr txBox="1"/>
          <p:nvPr/>
        </p:nvSpPr>
        <p:spPr>
          <a:xfrm>
            <a:off x="1699505" y="1629179"/>
            <a:ext cx="9488129" cy="3785652"/>
          </a:xfrm>
          <a:prstGeom prst="rect">
            <a:avLst/>
          </a:prstGeom>
          <a:noFill/>
        </p:spPr>
        <p:txBody>
          <a:bodyPr wrap="square">
            <a:spAutoFit/>
          </a:bodyPr>
          <a:lstStyle/>
          <a:p>
            <a:pPr algn="just">
              <a:buFont typeface="Arial" panose="020B0604020202020204" pitchFamily="34" charset="0"/>
              <a:buChar char="•"/>
            </a:pPr>
            <a:r>
              <a:rPr lang="en-IN" sz="2400" b="1" dirty="0"/>
              <a:t>Step 1:</a:t>
            </a:r>
            <a:r>
              <a:rPr lang="en-IN" sz="2400" dirty="0"/>
              <a:t> Data ingestion of BIO-annotated multilingual CV dataset </a:t>
            </a:r>
          </a:p>
          <a:p>
            <a:pPr algn="just">
              <a:buFont typeface="Arial" panose="020B0604020202020204" pitchFamily="34" charset="0"/>
              <a:buChar char="•"/>
            </a:pPr>
            <a:r>
              <a:rPr lang="en-IN" sz="2400" b="1" dirty="0"/>
              <a:t>Step 2:</a:t>
            </a:r>
            <a:r>
              <a:rPr lang="en-IN" sz="2400" dirty="0"/>
              <a:t> Text preprocessing (cleaning, normalization, formatting) </a:t>
            </a:r>
          </a:p>
          <a:p>
            <a:pPr algn="just">
              <a:buFont typeface="Arial" panose="020B0604020202020204" pitchFamily="34" charset="0"/>
              <a:buChar char="•"/>
            </a:pPr>
            <a:r>
              <a:rPr lang="en-IN" sz="2400" b="1" dirty="0"/>
              <a:t>Step 3:</a:t>
            </a:r>
            <a:r>
              <a:rPr lang="en-IN" sz="2400" dirty="0"/>
              <a:t> Multilingual tokenization using XLM-</a:t>
            </a:r>
            <a:r>
              <a:rPr lang="en-IN" sz="2400" dirty="0" err="1"/>
              <a:t>RoBERTa</a:t>
            </a:r>
            <a:r>
              <a:rPr lang="en-IN" sz="2400" dirty="0"/>
              <a:t> tokenizer </a:t>
            </a:r>
          </a:p>
          <a:p>
            <a:pPr algn="just">
              <a:buFont typeface="Arial" panose="020B0604020202020204" pitchFamily="34" charset="0"/>
              <a:buChar char="•"/>
            </a:pPr>
            <a:r>
              <a:rPr lang="en-IN" sz="2400" b="1" dirty="0"/>
              <a:t>Step 4:</a:t>
            </a:r>
            <a:r>
              <a:rPr lang="en-IN" sz="2400" dirty="0"/>
              <a:t> Input passed to shared XLM-</a:t>
            </a:r>
            <a:r>
              <a:rPr lang="en-IN" sz="2400" dirty="0" err="1"/>
              <a:t>RoBERTa</a:t>
            </a:r>
            <a:r>
              <a:rPr lang="en-IN" sz="2400" dirty="0"/>
              <a:t> encoder </a:t>
            </a:r>
          </a:p>
          <a:p>
            <a:pPr algn="just">
              <a:buFont typeface="Arial" panose="020B0604020202020204" pitchFamily="34" charset="0"/>
              <a:buChar char="•"/>
            </a:pPr>
            <a:r>
              <a:rPr lang="en-IN" sz="2400" b="1" dirty="0"/>
              <a:t>Step 5:</a:t>
            </a:r>
            <a:r>
              <a:rPr lang="en-IN" sz="2400" dirty="0"/>
              <a:t> Item-level NER to extract entities (name, org, skills, etc.) </a:t>
            </a:r>
          </a:p>
          <a:p>
            <a:pPr algn="just">
              <a:buFont typeface="Arial" panose="020B0604020202020204" pitchFamily="34" charset="0"/>
              <a:buChar char="•"/>
            </a:pPr>
            <a:r>
              <a:rPr lang="en-IN" sz="2400" b="1" dirty="0"/>
              <a:t>Step 6:</a:t>
            </a:r>
            <a:r>
              <a:rPr lang="en-IN" sz="2400" dirty="0"/>
              <a:t> Section-level classification (personal, education, experience, skills) </a:t>
            </a:r>
          </a:p>
          <a:p>
            <a:pPr algn="just">
              <a:buFont typeface="Arial" panose="020B0604020202020204" pitchFamily="34" charset="0"/>
              <a:buChar char="•"/>
            </a:pPr>
            <a:r>
              <a:rPr lang="en-IN" sz="2400" b="1" dirty="0"/>
              <a:t>Step 7:</a:t>
            </a:r>
            <a:r>
              <a:rPr lang="en-IN" sz="2400" dirty="0"/>
              <a:t> Combined loss training for both tasks </a:t>
            </a:r>
          </a:p>
          <a:p>
            <a:pPr algn="just">
              <a:buFont typeface="Arial" panose="020B0604020202020204" pitchFamily="34" charset="0"/>
              <a:buChar char="•"/>
            </a:pPr>
            <a:r>
              <a:rPr lang="en-IN" sz="2400" b="1" dirty="0"/>
              <a:t>Step 8:</a:t>
            </a:r>
            <a:r>
              <a:rPr lang="en-IN" sz="2400" dirty="0"/>
              <a:t> Post-processing to merge tokens and refine output </a:t>
            </a:r>
          </a:p>
          <a:p>
            <a:pPr algn="just">
              <a:buFont typeface="Arial" panose="020B0604020202020204" pitchFamily="34" charset="0"/>
              <a:buChar char="•"/>
            </a:pPr>
            <a:r>
              <a:rPr lang="en-IN" sz="2400" b="1" dirty="0"/>
              <a:t>Step 9:</a:t>
            </a:r>
            <a:r>
              <a:rPr lang="en-IN" sz="2400" dirty="0"/>
              <a:t> Generate structured JSON output </a:t>
            </a:r>
          </a:p>
        </p:txBody>
      </p:sp>
    </p:spTree>
    <p:extLst>
      <p:ext uri="{BB962C8B-B14F-4D97-AF65-F5344CB8AC3E}">
        <p14:creationId xmlns:p14="http://schemas.microsoft.com/office/powerpoint/2010/main" val="1097142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2A1DB-1282-77A6-DC47-DB0EC345EDD7}"/>
              </a:ext>
            </a:extLst>
          </p:cNvPr>
          <p:cNvSpPr>
            <a:spLocks noGrp="1"/>
          </p:cNvSpPr>
          <p:nvPr>
            <p:ph type="title"/>
          </p:nvPr>
        </p:nvSpPr>
        <p:spPr>
          <a:xfrm>
            <a:off x="2745658" y="420557"/>
            <a:ext cx="10515600" cy="1325563"/>
          </a:xfrm>
        </p:spPr>
        <p:txBody>
          <a:bodyPr/>
          <a:lstStyle/>
          <a:p>
            <a:r>
              <a:rPr lang="en-IN" dirty="0"/>
              <a:t>SYSTEM ARCHITECTURE</a:t>
            </a:r>
          </a:p>
        </p:txBody>
      </p:sp>
      <p:sp>
        <p:nvSpPr>
          <p:cNvPr id="3" name="B0">
            <a:extLst>
              <a:ext uri="{FF2B5EF4-FFF2-40B4-BE49-F238E27FC236}">
                <a16:creationId xmlns:a16="http://schemas.microsoft.com/office/drawing/2014/main" id="{EC475DB7-AA68-AD7E-A735-BC0E4B720DB2}"/>
              </a:ext>
            </a:extLst>
          </p:cNvPr>
          <p:cNvSpPr/>
          <p:nvPr/>
        </p:nvSpPr>
        <p:spPr>
          <a:xfrm>
            <a:off x="442452" y="1746120"/>
            <a:ext cx="2436936" cy="1191299"/>
          </a:xfrm>
          <a:prstGeom prst="rect">
            <a:avLst/>
          </a:prstGeom>
          <a:solidFill>
            <a:srgbClr val="003366"/>
          </a:solidFill>
          <a:ln w="12700">
            <a:solidFill>
              <a:srgbClr val="AAAAAA"/>
            </a:solidFill>
          </a:ln>
        </p:spPr>
        <p:txBody>
          <a:bodyPr anchor="ctr">
            <a:normAutofit/>
          </a:bodyPr>
          <a:lstStyle/>
          <a:p>
            <a:pPr algn="ctr"/>
            <a:r>
              <a:rPr lang="en-IN" b="1" dirty="0">
                <a:solidFill>
                  <a:srgbClr val="FFFFFF"/>
                </a:solidFill>
              </a:rPr>
              <a:t>INPUT LAYER</a:t>
            </a:r>
          </a:p>
          <a:p>
            <a:pPr algn="ctr"/>
            <a:r>
              <a:rPr lang="en-IN" b="0" dirty="0">
                <a:solidFill>
                  <a:srgbClr val="FFFFFF"/>
                </a:solidFill>
              </a:rPr>
              <a:t>PDF / DOCX / TXT / RTF</a:t>
            </a:r>
          </a:p>
        </p:txBody>
      </p:sp>
      <p:sp>
        <p:nvSpPr>
          <p:cNvPr id="4" name="B1">
            <a:extLst>
              <a:ext uri="{FF2B5EF4-FFF2-40B4-BE49-F238E27FC236}">
                <a16:creationId xmlns:a16="http://schemas.microsoft.com/office/drawing/2014/main" id="{3893E27A-2A4A-1C66-F483-3F7ADDACB9A7}"/>
              </a:ext>
            </a:extLst>
          </p:cNvPr>
          <p:cNvSpPr/>
          <p:nvPr/>
        </p:nvSpPr>
        <p:spPr>
          <a:xfrm>
            <a:off x="3414346" y="1746120"/>
            <a:ext cx="2340077" cy="1191299"/>
          </a:xfrm>
          <a:prstGeom prst="rect">
            <a:avLst/>
          </a:prstGeom>
          <a:solidFill>
            <a:srgbClr val="006699"/>
          </a:solidFill>
          <a:ln w="12700">
            <a:solidFill>
              <a:srgbClr val="AAAAAA"/>
            </a:solidFill>
          </a:ln>
        </p:spPr>
        <p:txBody>
          <a:bodyPr anchor="ctr">
            <a:normAutofit/>
          </a:bodyPr>
          <a:lstStyle/>
          <a:p>
            <a:pPr algn="ctr"/>
            <a:r>
              <a:rPr lang="en-IN" b="1" dirty="0">
                <a:solidFill>
                  <a:srgbClr val="FFFFFF"/>
                </a:solidFill>
              </a:rPr>
              <a:t>PREPROCESSING</a:t>
            </a:r>
          </a:p>
          <a:p>
            <a:pPr algn="ctr"/>
            <a:r>
              <a:rPr lang="en-IN" b="0" dirty="0">
                <a:solidFill>
                  <a:srgbClr val="FFFFFF"/>
                </a:solidFill>
              </a:rPr>
              <a:t>Normalize + [NEW_LINE]</a:t>
            </a:r>
          </a:p>
        </p:txBody>
      </p:sp>
      <p:sp>
        <p:nvSpPr>
          <p:cNvPr id="5" name="B2">
            <a:extLst>
              <a:ext uri="{FF2B5EF4-FFF2-40B4-BE49-F238E27FC236}">
                <a16:creationId xmlns:a16="http://schemas.microsoft.com/office/drawing/2014/main" id="{80F07D72-26A9-0396-11EA-B5811943C01F}"/>
              </a:ext>
            </a:extLst>
          </p:cNvPr>
          <p:cNvSpPr/>
          <p:nvPr/>
        </p:nvSpPr>
        <p:spPr>
          <a:xfrm>
            <a:off x="6282208" y="1746120"/>
            <a:ext cx="2282544" cy="1191299"/>
          </a:xfrm>
          <a:prstGeom prst="rect">
            <a:avLst/>
          </a:prstGeom>
          <a:solidFill>
            <a:srgbClr val="1565C0"/>
          </a:solidFill>
          <a:ln w="12700">
            <a:solidFill>
              <a:srgbClr val="AAAAAA"/>
            </a:solidFill>
          </a:ln>
        </p:spPr>
        <p:txBody>
          <a:bodyPr anchor="ctr">
            <a:normAutofit/>
          </a:bodyPr>
          <a:lstStyle/>
          <a:p>
            <a:pPr algn="ctr"/>
            <a:r>
              <a:rPr lang="en-IN" b="1" dirty="0">
                <a:solidFill>
                  <a:srgbClr val="FFFFFF"/>
                </a:solidFill>
              </a:rPr>
              <a:t>TOKENIZATION</a:t>
            </a:r>
          </a:p>
          <a:p>
            <a:pPr algn="ctr"/>
            <a:r>
              <a:rPr lang="en-IN" b="0" dirty="0">
                <a:solidFill>
                  <a:srgbClr val="FFFFFF"/>
                </a:solidFill>
              </a:rPr>
              <a:t>SentencePiece (256 tok)</a:t>
            </a:r>
          </a:p>
        </p:txBody>
      </p:sp>
      <p:sp>
        <p:nvSpPr>
          <p:cNvPr id="6" name="B3">
            <a:extLst>
              <a:ext uri="{FF2B5EF4-FFF2-40B4-BE49-F238E27FC236}">
                <a16:creationId xmlns:a16="http://schemas.microsoft.com/office/drawing/2014/main" id="{962D4ACB-4647-FBD9-DDE9-8FFB92B23FF5}"/>
              </a:ext>
            </a:extLst>
          </p:cNvPr>
          <p:cNvSpPr/>
          <p:nvPr/>
        </p:nvSpPr>
        <p:spPr>
          <a:xfrm>
            <a:off x="9089566" y="1746120"/>
            <a:ext cx="2308949" cy="1138333"/>
          </a:xfrm>
          <a:prstGeom prst="rect">
            <a:avLst/>
          </a:prstGeom>
          <a:solidFill>
            <a:srgbClr val="5B2C8D"/>
          </a:solidFill>
          <a:ln w="12700">
            <a:solidFill>
              <a:srgbClr val="AAAAAA"/>
            </a:solidFill>
          </a:ln>
        </p:spPr>
        <p:txBody>
          <a:bodyPr anchor="ctr">
            <a:noAutofit/>
          </a:bodyPr>
          <a:lstStyle/>
          <a:p>
            <a:pPr algn="ctr"/>
            <a:r>
              <a:rPr lang="en-IN" b="1" dirty="0">
                <a:solidFill>
                  <a:srgbClr val="FFFFFF"/>
                </a:solidFill>
              </a:rPr>
              <a:t>XLM-RoBERTa ENCODER</a:t>
            </a:r>
          </a:p>
          <a:p>
            <a:pPr algn="ctr"/>
            <a:r>
              <a:rPr lang="en-IN" b="0" dirty="0">
                <a:solidFill>
                  <a:srgbClr val="FFFFFF"/>
                </a:solidFill>
              </a:rPr>
              <a:t>12 Transformer Layers</a:t>
            </a:r>
          </a:p>
        </p:txBody>
      </p:sp>
      <p:sp>
        <p:nvSpPr>
          <p:cNvPr id="7" name="R2B0">
            <a:extLst>
              <a:ext uri="{FF2B5EF4-FFF2-40B4-BE49-F238E27FC236}">
                <a16:creationId xmlns:a16="http://schemas.microsoft.com/office/drawing/2014/main" id="{37E1555B-D6C2-401C-6B13-1703F7FCD604}"/>
              </a:ext>
            </a:extLst>
          </p:cNvPr>
          <p:cNvSpPr/>
          <p:nvPr/>
        </p:nvSpPr>
        <p:spPr>
          <a:xfrm>
            <a:off x="9089566" y="4035576"/>
            <a:ext cx="2308949" cy="1138333"/>
          </a:xfrm>
          <a:prstGeom prst="rect">
            <a:avLst/>
          </a:prstGeom>
          <a:solidFill>
            <a:srgbClr val="1A7F37"/>
          </a:solidFill>
          <a:ln w="12700">
            <a:solidFill>
              <a:srgbClr val="AAAAAA"/>
            </a:solidFill>
          </a:ln>
        </p:spPr>
        <p:txBody>
          <a:bodyPr anchor="ctr">
            <a:normAutofit/>
          </a:bodyPr>
          <a:lstStyle/>
          <a:p>
            <a:pPr algn="ctr"/>
            <a:r>
              <a:rPr lang="en-IN" b="1" dirty="0">
                <a:solidFill>
                  <a:srgbClr val="FFFFFF"/>
                </a:solidFill>
              </a:rPr>
              <a:t>ITEM NER HEAD</a:t>
            </a:r>
          </a:p>
          <a:p>
            <a:pPr algn="ctr"/>
            <a:r>
              <a:rPr lang="en-IN" b="0" dirty="0">
                <a:solidFill>
                  <a:srgbClr val="FFFFFF"/>
                </a:solidFill>
              </a:rPr>
              <a:t>14 entity types | word-level</a:t>
            </a:r>
          </a:p>
        </p:txBody>
      </p:sp>
      <p:sp>
        <p:nvSpPr>
          <p:cNvPr id="8" name="R2B1">
            <a:extLst>
              <a:ext uri="{FF2B5EF4-FFF2-40B4-BE49-F238E27FC236}">
                <a16:creationId xmlns:a16="http://schemas.microsoft.com/office/drawing/2014/main" id="{E5A18A02-4794-274A-C262-E416820634C7}"/>
              </a:ext>
            </a:extLst>
          </p:cNvPr>
          <p:cNvSpPr/>
          <p:nvPr/>
        </p:nvSpPr>
        <p:spPr>
          <a:xfrm>
            <a:off x="6028512" y="4035576"/>
            <a:ext cx="2308949" cy="1192550"/>
          </a:xfrm>
          <a:prstGeom prst="rect">
            <a:avLst/>
          </a:prstGeom>
          <a:solidFill>
            <a:srgbClr val="006633"/>
          </a:solidFill>
          <a:ln w="12700">
            <a:solidFill>
              <a:srgbClr val="AAAAAA"/>
            </a:solidFill>
          </a:ln>
        </p:spPr>
        <p:txBody>
          <a:bodyPr anchor="ctr">
            <a:normAutofit/>
          </a:bodyPr>
          <a:lstStyle/>
          <a:p>
            <a:pPr algn="ctr"/>
            <a:r>
              <a:rPr lang="en-IN" b="1" dirty="0">
                <a:solidFill>
                  <a:srgbClr val="FFFFFF"/>
                </a:solidFill>
              </a:rPr>
              <a:t>SECTION HEAD</a:t>
            </a:r>
          </a:p>
          <a:p>
            <a:pPr algn="ctr"/>
            <a:r>
              <a:rPr lang="en-IN" b="0" dirty="0">
                <a:solidFill>
                  <a:srgbClr val="FFFFFF"/>
                </a:solidFill>
              </a:rPr>
              <a:t>6 section types | line-level</a:t>
            </a:r>
          </a:p>
        </p:txBody>
      </p:sp>
      <p:sp>
        <p:nvSpPr>
          <p:cNvPr id="9" name="R2B2">
            <a:extLst>
              <a:ext uri="{FF2B5EF4-FFF2-40B4-BE49-F238E27FC236}">
                <a16:creationId xmlns:a16="http://schemas.microsoft.com/office/drawing/2014/main" id="{5C8FF1A9-A10E-F11D-D19D-70A73C093B2E}"/>
              </a:ext>
            </a:extLst>
          </p:cNvPr>
          <p:cNvSpPr/>
          <p:nvPr/>
        </p:nvSpPr>
        <p:spPr>
          <a:xfrm>
            <a:off x="2949941" y="4035576"/>
            <a:ext cx="2308949" cy="1213523"/>
          </a:xfrm>
          <a:prstGeom prst="rect">
            <a:avLst/>
          </a:prstGeom>
          <a:solidFill>
            <a:srgbClr val="CC5500"/>
          </a:solidFill>
          <a:ln w="12700">
            <a:solidFill>
              <a:srgbClr val="AAAAAA"/>
            </a:solidFill>
          </a:ln>
        </p:spPr>
        <p:txBody>
          <a:bodyPr anchor="ctr">
            <a:normAutofit/>
          </a:bodyPr>
          <a:lstStyle/>
          <a:p>
            <a:pPr algn="ctr"/>
            <a:r>
              <a:rPr lang="en-IN" b="1" dirty="0">
                <a:solidFill>
                  <a:srgbClr val="FFFFFF"/>
                </a:solidFill>
              </a:rPr>
              <a:t>OUTPUT</a:t>
            </a:r>
          </a:p>
          <a:p>
            <a:pPr algn="ctr"/>
            <a:r>
              <a:rPr lang="en-IN" b="0" dirty="0">
                <a:solidFill>
                  <a:srgbClr val="FFFFFF"/>
                </a:solidFill>
              </a:rPr>
              <a:t>Structured JSON</a:t>
            </a:r>
          </a:p>
        </p:txBody>
      </p:sp>
      <p:sp>
        <p:nvSpPr>
          <p:cNvPr id="10" name="Arr20">
            <a:extLst>
              <a:ext uri="{FF2B5EF4-FFF2-40B4-BE49-F238E27FC236}">
                <a16:creationId xmlns:a16="http://schemas.microsoft.com/office/drawing/2014/main" id="{C37B5994-FF20-9972-36B3-AD504A3F67B6}"/>
              </a:ext>
            </a:extLst>
          </p:cNvPr>
          <p:cNvSpPr/>
          <p:nvPr/>
        </p:nvSpPr>
        <p:spPr>
          <a:xfrm>
            <a:off x="2879388" y="2177754"/>
            <a:ext cx="542237" cy="231148"/>
          </a:xfrm>
          <a:prstGeom prst="rightArrow">
            <a:avLst/>
          </a:prstGeom>
          <a:solidFill>
            <a:srgbClr val="777777"/>
          </a:solidFill>
          <a:ln>
            <a:noFill/>
          </a:ln>
        </p:spPr>
        <p:txBody>
          <a:bodyPr/>
          <a:lstStyle/>
          <a:p>
            <a:endParaRPr lang="en-IN" dirty="0"/>
          </a:p>
        </p:txBody>
      </p:sp>
      <p:sp>
        <p:nvSpPr>
          <p:cNvPr id="13" name="Arr20">
            <a:extLst>
              <a:ext uri="{FF2B5EF4-FFF2-40B4-BE49-F238E27FC236}">
                <a16:creationId xmlns:a16="http://schemas.microsoft.com/office/drawing/2014/main" id="{B36E7E27-9463-9EEA-7C54-A4888092194C}"/>
              </a:ext>
            </a:extLst>
          </p:cNvPr>
          <p:cNvSpPr/>
          <p:nvPr/>
        </p:nvSpPr>
        <p:spPr>
          <a:xfrm rot="5400000">
            <a:off x="9701356" y="3320885"/>
            <a:ext cx="1085366" cy="265471"/>
          </a:xfrm>
          <a:prstGeom prst="rightArrow">
            <a:avLst/>
          </a:prstGeom>
          <a:solidFill>
            <a:srgbClr val="777777"/>
          </a:solidFill>
          <a:ln>
            <a:noFill/>
          </a:ln>
        </p:spPr>
        <p:txBody>
          <a:bodyPr/>
          <a:lstStyle/>
          <a:p>
            <a:endParaRPr lang="en-IN" dirty="0"/>
          </a:p>
        </p:txBody>
      </p:sp>
      <p:sp>
        <p:nvSpPr>
          <p:cNvPr id="14" name="Arr20">
            <a:extLst>
              <a:ext uri="{FF2B5EF4-FFF2-40B4-BE49-F238E27FC236}">
                <a16:creationId xmlns:a16="http://schemas.microsoft.com/office/drawing/2014/main" id="{8435F949-D7CE-CBBE-3384-30E1FD836C40}"/>
              </a:ext>
            </a:extLst>
          </p:cNvPr>
          <p:cNvSpPr/>
          <p:nvPr/>
        </p:nvSpPr>
        <p:spPr>
          <a:xfrm rot="10800000">
            <a:off x="8319945" y="4489167"/>
            <a:ext cx="751142" cy="231149"/>
          </a:xfrm>
          <a:prstGeom prst="rightArrow">
            <a:avLst/>
          </a:prstGeom>
          <a:solidFill>
            <a:srgbClr val="777777"/>
          </a:solidFill>
          <a:ln>
            <a:noFill/>
          </a:ln>
        </p:spPr>
        <p:txBody>
          <a:bodyPr/>
          <a:lstStyle/>
          <a:p>
            <a:endParaRPr lang="en-IN" dirty="0"/>
          </a:p>
        </p:txBody>
      </p:sp>
      <p:sp>
        <p:nvSpPr>
          <p:cNvPr id="16" name="Arr20">
            <a:extLst>
              <a:ext uri="{FF2B5EF4-FFF2-40B4-BE49-F238E27FC236}">
                <a16:creationId xmlns:a16="http://schemas.microsoft.com/office/drawing/2014/main" id="{5114DC52-9AB6-DC2B-8EF7-4641D72024E6}"/>
              </a:ext>
            </a:extLst>
          </p:cNvPr>
          <p:cNvSpPr/>
          <p:nvPr/>
        </p:nvSpPr>
        <p:spPr>
          <a:xfrm>
            <a:off x="5757394" y="2226195"/>
            <a:ext cx="542237" cy="231148"/>
          </a:xfrm>
          <a:prstGeom prst="rightArrow">
            <a:avLst/>
          </a:prstGeom>
          <a:solidFill>
            <a:srgbClr val="777777"/>
          </a:solidFill>
          <a:ln>
            <a:noFill/>
          </a:ln>
        </p:spPr>
        <p:txBody>
          <a:bodyPr/>
          <a:lstStyle/>
          <a:p>
            <a:endParaRPr lang="en-IN" dirty="0"/>
          </a:p>
        </p:txBody>
      </p:sp>
      <p:sp>
        <p:nvSpPr>
          <p:cNvPr id="17" name="Arr20">
            <a:extLst>
              <a:ext uri="{FF2B5EF4-FFF2-40B4-BE49-F238E27FC236}">
                <a16:creationId xmlns:a16="http://schemas.microsoft.com/office/drawing/2014/main" id="{0A9E502A-AE38-8262-4007-2FC1B68375A4}"/>
              </a:ext>
            </a:extLst>
          </p:cNvPr>
          <p:cNvSpPr/>
          <p:nvPr/>
        </p:nvSpPr>
        <p:spPr>
          <a:xfrm>
            <a:off x="8564752" y="2226195"/>
            <a:ext cx="542237" cy="231148"/>
          </a:xfrm>
          <a:prstGeom prst="rightArrow">
            <a:avLst/>
          </a:prstGeom>
          <a:solidFill>
            <a:srgbClr val="777777"/>
          </a:solidFill>
          <a:ln>
            <a:noFill/>
          </a:ln>
        </p:spPr>
        <p:txBody>
          <a:bodyPr/>
          <a:lstStyle/>
          <a:p>
            <a:endParaRPr lang="en-IN" dirty="0"/>
          </a:p>
        </p:txBody>
      </p:sp>
      <p:sp>
        <p:nvSpPr>
          <p:cNvPr id="18" name="Arr20">
            <a:extLst>
              <a:ext uri="{FF2B5EF4-FFF2-40B4-BE49-F238E27FC236}">
                <a16:creationId xmlns:a16="http://schemas.microsoft.com/office/drawing/2014/main" id="{409A297B-D50B-A01E-18D0-FA94F8BFFE4C}"/>
              </a:ext>
            </a:extLst>
          </p:cNvPr>
          <p:cNvSpPr/>
          <p:nvPr/>
        </p:nvSpPr>
        <p:spPr>
          <a:xfrm rot="10800000">
            <a:off x="5258891" y="4489168"/>
            <a:ext cx="751142" cy="231149"/>
          </a:xfrm>
          <a:prstGeom prst="rightArrow">
            <a:avLst/>
          </a:prstGeom>
          <a:solidFill>
            <a:srgbClr val="777777"/>
          </a:solidFill>
          <a:ln>
            <a:noFill/>
          </a:ln>
        </p:spPr>
        <p:txBody>
          <a:bodyPr/>
          <a:lstStyle/>
          <a:p>
            <a:endParaRPr lang="en-IN" dirty="0"/>
          </a:p>
        </p:txBody>
      </p:sp>
    </p:spTree>
    <p:extLst>
      <p:ext uri="{BB962C8B-B14F-4D97-AF65-F5344CB8AC3E}">
        <p14:creationId xmlns:p14="http://schemas.microsoft.com/office/powerpoint/2010/main" val="3407115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AC72-B491-77FB-6B83-FBF55E2D32A1}"/>
              </a:ext>
            </a:extLst>
          </p:cNvPr>
          <p:cNvSpPr>
            <a:spLocks noGrp="1"/>
          </p:cNvSpPr>
          <p:nvPr>
            <p:ph type="title"/>
          </p:nvPr>
        </p:nvSpPr>
        <p:spPr>
          <a:xfrm>
            <a:off x="2365248" y="-184999"/>
            <a:ext cx="10515600" cy="1325563"/>
          </a:xfrm>
        </p:spPr>
        <p:txBody>
          <a:bodyPr/>
          <a:lstStyle/>
          <a:p>
            <a:r>
              <a:rPr lang="en-IN" dirty="0"/>
              <a:t>DUALMODEL ARCHITECTURE</a:t>
            </a:r>
          </a:p>
        </p:txBody>
      </p:sp>
      <p:sp>
        <p:nvSpPr>
          <p:cNvPr id="3" name="Inp">
            <a:extLst>
              <a:ext uri="{FF2B5EF4-FFF2-40B4-BE49-F238E27FC236}">
                <a16:creationId xmlns:a16="http://schemas.microsoft.com/office/drawing/2014/main" id="{2732B9E7-9B38-4186-7A8C-FCA973F53BD7}"/>
              </a:ext>
            </a:extLst>
          </p:cNvPr>
          <p:cNvSpPr/>
          <p:nvPr/>
        </p:nvSpPr>
        <p:spPr>
          <a:xfrm>
            <a:off x="4163920" y="952032"/>
            <a:ext cx="3772056" cy="915016"/>
          </a:xfrm>
          <a:prstGeom prst="rect">
            <a:avLst/>
          </a:prstGeom>
          <a:solidFill>
            <a:srgbClr val="003366"/>
          </a:solidFill>
          <a:ln>
            <a:noFill/>
          </a:ln>
        </p:spPr>
        <p:txBody>
          <a:bodyPr anchor="ctr">
            <a:normAutofit/>
          </a:bodyPr>
          <a:lstStyle/>
          <a:p>
            <a:pPr algn="ctr"/>
            <a:r>
              <a:rPr lang="en-IN" b="1" dirty="0">
                <a:solidFill>
                  <a:srgbClr val="FFFFFF"/>
                </a:solidFill>
              </a:rPr>
              <a:t>INPUT SEQUENCE</a:t>
            </a:r>
          </a:p>
          <a:p>
            <a:pPr algn="ctr"/>
            <a:r>
              <a:rPr lang="en-IN" b="0" dirty="0">
                <a:solidFill>
                  <a:srgbClr val="FFFFFF"/>
                </a:solidFill>
              </a:rPr>
              <a:t>[CLS] + Tokenized Tokens + [SEP]</a:t>
            </a:r>
          </a:p>
        </p:txBody>
      </p:sp>
      <p:sp>
        <p:nvSpPr>
          <p:cNvPr id="4" name="Enc">
            <a:extLst>
              <a:ext uri="{FF2B5EF4-FFF2-40B4-BE49-F238E27FC236}">
                <a16:creationId xmlns:a16="http://schemas.microsoft.com/office/drawing/2014/main" id="{9C553868-0C06-83F4-9D1F-6470CD0F4819}"/>
              </a:ext>
            </a:extLst>
          </p:cNvPr>
          <p:cNvSpPr/>
          <p:nvPr/>
        </p:nvSpPr>
        <p:spPr>
          <a:xfrm>
            <a:off x="3560670" y="2147048"/>
            <a:ext cx="5070660" cy="915016"/>
          </a:xfrm>
          <a:prstGeom prst="rect">
            <a:avLst/>
          </a:prstGeom>
          <a:solidFill>
            <a:srgbClr val="1565C0"/>
          </a:solidFill>
          <a:ln>
            <a:noFill/>
          </a:ln>
        </p:spPr>
        <p:txBody>
          <a:bodyPr anchor="ctr">
            <a:normAutofit/>
          </a:bodyPr>
          <a:lstStyle/>
          <a:p>
            <a:pPr algn="ctr"/>
            <a:r>
              <a:rPr lang="en-IN" b="1" dirty="0">
                <a:solidFill>
                  <a:srgbClr val="FFFFFF"/>
                </a:solidFill>
              </a:rPr>
              <a:t>XLM-RoBERTa Encoder (12 Transformer Layers)</a:t>
            </a:r>
          </a:p>
          <a:p>
            <a:pPr algn="ctr"/>
            <a:r>
              <a:rPr lang="en-IN" b="0" dirty="0">
                <a:solidFill>
                  <a:srgbClr val="FFFFFF"/>
                </a:solidFill>
              </a:rPr>
              <a:t>Multi-Head Self-Attention | Positional Embeddings | Layer Norm</a:t>
            </a:r>
          </a:p>
        </p:txBody>
      </p:sp>
      <p:sp>
        <p:nvSpPr>
          <p:cNvPr id="7" name="NER">
            <a:extLst>
              <a:ext uri="{FF2B5EF4-FFF2-40B4-BE49-F238E27FC236}">
                <a16:creationId xmlns:a16="http://schemas.microsoft.com/office/drawing/2014/main" id="{2CBD02EF-F46F-DA16-5DA1-39620CEA111A}"/>
              </a:ext>
            </a:extLst>
          </p:cNvPr>
          <p:cNvSpPr/>
          <p:nvPr/>
        </p:nvSpPr>
        <p:spPr>
          <a:xfrm>
            <a:off x="1033272" y="3680000"/>
            <a:ext cx="4492104" cy="1103696"/>
          </a:xfrm>
          <a:prstGeom prst="rect">
            <a:avLst/>
          </a:prstGeom>
          <a:solidFill>
            <a:srgbClr val="5B2C8D"/>
          </a:solidFill>
          <a:ln>
            <a:noFill/>
          </a:ln>
        </p:spPr>
        <p:txBody>
          <a:bodyPr anchor="ctr">
            <a:normAutofit/>
          </a:bodyPr>
          <a:lstStyle/>
          <a:p>
            <a:pPr algn="ctr"/>
            <a:r>
              <a:rPr lang="en-IN" b="1" dirty="0">
                <a:solidFill>
                  <a:srgbClr val="FFFFFF"/>
                </a:solidFill>
              </a:rPr>
              <a:t>ITEM-LEVEL NER HEAD (word-level)</a:t>
            </a:r>
          </a:p>
          <a:p>
            <a:pPr algn="ctr"/>
            <a:r>
              <a:rPr lang="en-IN" b="0" dirty="0">
                <a:solidFill>
                  <a:srgbClr val="FFFFFF"/>
                </a:solidFill>
              </a:rPr>
              <a:t>14 classes: NAME, ORG, ROL, EDU, DEG, DAT ... | BIO Tagging | F1=0.9709</a:t>
            </a:r>
          </a:p>
        </p:txBody>
      </p:sp>
      <p:sp>
        <p:nvSpPr>
          <p:cNvPr id="8" name="Sec">
            <a:extLst>
              <a:ext uri="{FF2B5EF4-FFF2-40B4-BE49-F238E27FC236}">
                <a16:creationId xmlns:a16="http://schemas.microsoft.com/office/drawing/2014/main" id="{A30A6005-F4A7-AB74-2AF0-FFA96A7C939C}"/>
              </a:ext>
            </a:extLst>
          </p:cNvPr>
          <p:cNvSpPr/>
          <p:nvPr/>
        </p:nvSpPr>
        <p:spPr>
          <a:xfrm>
            <a:off x="6574520" y="3680000"/>
            <a:ext cx="4400000" cy="1096656"/>
          </a:xfrm>
          <a:prstGeom prst="rect">
            <a:avLst/>
          </a:prstGeom>
          <a:solidFill>
            <a:srgbClr val="006633"/>
          </a:solidFill>
          <a:ln>
            <a:noFill/>
          </a:ln>
        </p:spPr>
        <p:txBody>
          <a:bodyPr anchor="ctr">
            <a:normAutofit/>
          </a:bodyPr>
          <a:lstStyle/>
          <a:p>
            <a:pPr algn="ctr"/>
            <a:r>
              <a:rPr lang="en-IN" b="1" dirty="0">
                <a:solidFill>
                  <a:srgbClr val="FFFFFF"/>
                </a:solidFill>
              </a:rPr>
              <a:t>SECTION-LEVEL HEAD (line-level)</a:t>
            </a:r>
          </a:p>
          <a:p>
            <a:pPr algn="ctr"/>
            <a:r>
              <a:rPr lang="en-IN" b="0" dirty="0">
                <a:solidFill>
                  <a:srgbClr val="FFFFFF"/>
                </a:solidFill>
              </a:rPr>
              <a:t>6 classes: PERSONAL, EMP_INFO, EDUCATION ... | F1=0.9491</a:t>
            </a:r>
          </a:p>
        </p:txBody>
      </p:sp>
      <p:sp>
        <p:nvSpPr>
          <p:cNvPr id="9" name="O1">
            <a:extLst>
              <a:ext uri="{FF2B5EF4-FFF2-40B4-BE49-F238E27FC236}">
                <a16:creationId xmlns:a16="http://schemas.microsoft.com/office/drawing/2014/main" id="{6F7E2CF3-522C-E796-04F7-9FE6D79E2B87}"/>
              </a:ext>
            </a:extLst>
          </p:cNvPr>
          <p:cNvSpPr/>
          <p:nvPr/>
        </p:nvSpPr>
        <p:spPr>
          <a:xfrm>
            <a:off x="1033272" y="5113696"/>
            <a:ext cx="4492104" cy="1103696"/>
          </a:xfrm>
          <a:prstGeom prst="rect">
            <a:avLst/>
          </a:prstGeom>
          <a:solidFill>
            <a:srgbClr val="7D3C98"/>
          </a:solidFill>
          <a:ln>
            <a:noFill/>
          </a:ln>
        </p:spPr>
        <p:txBody>
          <a:bodyPr anchor="ctr">
            <a:normAutofit/>
          </a:bodyPr>
          <a:lstStyle/>
          <a:p>
            <a:pPr algn="ctr"/>
            <a:r>
              <a:rPr lang="en-IN" b="1" dirty="0">
                <a:solidFill>
                  <a:srgbClr val="FFFFFF"/>
                </a:solidFill>
              </a:rPr>
              <a:t>ENTITY PREDICTIONS</a:t>
            </a:r>
          </a:p>
          <a:p>
            <a:pPr algn="ctr"/>
            <a:r>
              <a:rPr lang="en-IN" b="0" dirty="0">
                <a:solidFill>
                  <a:srgbClr val="FFFFFF"/>
                </a:solidFill>
              </a:rPr>
              <a:t>Structured JSON | NAME, ORG, DEG, SKILL...</a:t>
            </a:r>
          </a:p>
        </p:txBody>
      </p:sp>
      <p:sp>
        <p:nvSpPr>
          <p:cNvPr id="10" name="O2">
            <a:extLst>
              <a:ext uri="{FF2B5EF4-FFF2-40B4-BE49-F238E27FC236}">
                <a16:creationId xmlns:a16="http://schemas.microsoft.com/office/drawing/2014/main" id="{94C50349-9EBE-E1B2-43BC-87A31C9481A8}"/>
              </a:ext>
            </a:extLst>
          </p:cNvPr>
          <p:cNvSpPr/>
          <p:nvPr/>
        </p:nvSpPr>
        <p:spPr>
          <a:xfrm>
            <a:off x="6574520" y="5113696"/>
            <a:ext cx="4492104" cy="1103696"/>
          </a:xfrm>
          <a:prstGeom prst="rect">
            <a:avLst/>
          </a:prstGeom>
          <a:solidFill>
            <a:srgbClr val="1A7F37"/>
          </a:solidFill>
          <a:ln>
            <a:noFill/>
          </a:ln>
        </p:spPr>
        <p:txBody>
          <a:bodyPr anchor="ctr">
            <a:normAutofit/>
          </a:bodyPr>
          <a:lstStyle/>
          <a:p>
            <a:pPr algn="ctr"/>
            <a:r>
              <a:rPr lang="en-IN" b="1" dirty="0">
                <a:solidFill>
                  <a:srgbClr val="FFFFFF"/>
                </a:solidFill>
              </a:rPr>
              <a:t>SECTION PREDICTIONS</a:t>
            </a:r>
          </a:p>
          <a:p>
            <a:pPr algn="ctr"/>
            <a:r>
              <a:rPr lang="en-IN" b="0" dirty="0">
                <a:solidFill>
                  <a:srgbClr val="FFFFFF"/>
                </a:solidFill>
              </a:rPr>
              <a:t>Consistent section label per line</a:t>
            </a:r>
          </a:p>
        </p:txBody>
      </p:sp>
      <p:sp>
        <p:nvSpPr>
          <p:cNvPr id="11" name="AD20">
            <a:extLst>
              <a:ext uri="{FF2B5EF4-FFF2-40B4-BE49-F238E27FC236}">
                <a16:creationId xmlns:a16="http://schemas.microsoft.com/office/drawing/2014/main" id="{89433DC7-95EE-E683-91BA-78C28F3292BF}"/>
              </a:ext>
            </a:extLst>
          </p:cNvPr>
          <p:cNvSpPr/>
          <p:nvPr/>
        </p:nvSpPr>
        <p:spPr>
          <a:xfrm>
            <a:off x="6009972" y="1867048"/>
            <a:ext cx="200000" cy="280000"/>
          </a:xfrm>
          <a:prstGeom prst="downArrow">
            <a:avLst/>
          </a:prstGeom>
          <a:solidFill>
            <a:srgbClr val="777777"/>
          </a:solidFill>
          <a:ln>
            <a:noFill/>
          </a:ln>
        </p:spPr>
        <p:txBody>
          <a:bodyPr/>
          <a:lstStyle/>
          <a:p>
            <a:endParaRPr lang="en-IN" dirty="0"/>
          </a:p>
        </p:txBody>
      </p:sp>
      <p:sp>
        <p:nvSpPr>
          <p:cNvPr id="12" name="AD21">
            <a:extLst>
              <a:ext uri="{FF2B5EF4-FFF2-40B4-BE49-F238E27FC236}">
                <a16:creationId xmlns:a16="http://schemas.microsoft.com/office/drawing/2014/main" id="{045291FA-05F5-A9DE-ED67-AF4E193FEE8B}"/>
              </a:ext>
            </a:extLst>
          </p:cNvPr>
          <p:cNvSpPr/>
          <p:nvPr/>
        </p:nvSpPr>
        <p:spPr>
          <a:xfrm>
            <a:off x="5984392" y="3046304"/>
            <a:ext cx="200000" cy="220000"/>
          </a:xfrm>
          <a:prstGeom prst="downArrow">
            <a:avLst/>
          </a:prstGeom>
          <a:solidFill>
            <a:srgbClr val="777777"/>
          </a:solidFill>
          <a:ln>
            <a:noFill/>
          </a:ln>
        </p:spPr>
        <p:txBody>
          <a:bodyPr/>
          <a:lstStyle/>
          <a:p>
            <a:endParaRPr lang="en-IN" dirty="0"/>
          </a:p>
        </p:txBody>
      </p:sp>
      <p:sp>
        <p:nvSpPr>
          <p:cNvPr id="13" name="AD23">
            <a:extLst>
              <a:ext uri="{FF2B5EF4-FFF2-40B4-BE49-F238E27FC236}">
                <a16:creationId xmlns:a16="http://schemas.microsoft.com/office/drawing/2014/main" id="{A64E9ACD-EE55-BF41-E5D2-071DE3511E7F}"/>
              </a:ext>
            </a:extLst>
          </p:cNvPr>
          <p:cNvSpPr/>
          <p:nvPr/>
        </p:nvSpPr>
        <p:spPr>
          <a:xfrm>
            <a:off x="3179324" y="4838696"/>
            <a:ext cx="200000" cy="220000"/>
          </a:xfrm>
          <a:prstGeom prst="downArrow">
            <a:avLst/>
          </a:prstGeom>
          <a:solidFill>
            <a:srgbClr val="777777"/>
          </a:solidFill>
          <a:ln>
            <a:noFill/>
          </a:ln>
        </p:spPr>
        <p:txBody>
          <a:bodyPr/>
          <a:lstStyle/>
          <a:p>
            <a:endParaRPr lang="en-IN" dirty="0"/>
          </a:p>
        </p:txBody>
      </p:sp>
      <p:sp>
        <p:nvSpPr>
          <p:cNvPr id="14" name="AD24">
            <a:extLst>
              <a:ext uri="{FF2B5EF4-FFF2-40B4-BE49-F238E27FC236}">
                <a16:creationId xmlns:a16="http://schemas.microsoft.com/office/drawing/2014/main" id="{F4CB21F7-2FFB-06D9-56B8-1C8AE84223DB}"/>
              </a:ext>
            </a:extLst>
          </p:cNvPr>
          <p:cNvSpPr/>
          <p:nvPr/>
        </p:nvSpPr>
        <p:spPr>
          <a:xfrm>
            <a:off x="8774520" y="4856424"/>
            <a:ext cx="200000" cy="220000"/>
          </a:xfrm>
          <a:prstGeom prst="downArrow">
            <a:avLst/>
          </a:prstGeom>
          <a:solidFill>
            <a:srgbClr val="777777"/>
          </a:solidFill>
          <a:ln>
            <a:noFill/>
          </a:ln>
        </p:spPr>
        <p:txBody>
          <a:bodyPr/>
          <a:lstStyle/>
          <a:p>
            <a:endParaRPr lang="en-IN" dirty="0"/>
          </a:p>
        </p:txBody>
      </p:sp>
      <p:sp>
        <p:nvSpPr>
          <p:cNvPr id="15" name="AD22">
            <a:extLst>
              <a:ext uri="{FF2B5EF4-FFF2-40B4-BE49-F238E27FC236}">
                <a16:creationId xmlns:a16="http://schemas.microsoft.com/office/drawing/2014/main" id="{A0605A05-9EFA-8FFC-1450-43285DD76D38}"/>
              </a:ext>
            </a:extLst>
          </p:cNvPr>
          <p:cNvSpPr/>
          <p:nvPr/>
        </p:nvSpPr>
        <p:spPr>
          <a:xfrm>
            <a:off x="5949948" y="3512128"/>
            <a:ext cx="200000" cy="200000"/>
          </a:xfrm>
          <a:prstGeom prst="downArrow">
            <a:avLst/>
          </a:prstGeom>
          <a:solidFill>
            <a:srgbClr val="777777"/>
          </a:solidFill>
          <a:ln>
            <a:noFill/>
          </a:ln>
        </p:spPr>
        <p:txBody>
          <a:bodyPr/>
          <a:lstStyle/>
          <a:p>
            <a:endParaRPr lang="en-IN" dirty="0"/>
          </a:p>
        </p:txBody>
      </p:sp>
      <p:sp>
        <p:nvSpPr>
          <p:cNvPr id="17" name="TextBox 16">
            <a:extLst>
              <a:ext uri="{FF2B5EF4-FFF2-40B4-BE49-F238E27FC236}">
                <a16:creationId xmlns:a16="http://schemas.microsoft.com/office/drawing/2014/main" id="{D5D6902B-D0C3-F379-0008-6EA68F644373}"/>
              </a:ext>
            </a:extLst>
          </p:cNvPr>
          <p:cNvSpPr txBox="1"/>
          <p:nvPr/>
        </p:nvSpPr>
        <p:spPr>
          <a:xfrm>
            <a:off x="3193542" y="3189470"/>
            <a:ext cx="6387084" cy="369332"/>
          </a:xfrm>
          <a:prstGeom prst="rect">
            <a:avLst/>
          </a:prstGeom>
          <a:noFill/>
        </p:spPr>
        <p:txBody>
          <a:bodyPr wrap="square">
            <a:spAutoFit/>
          </a:bodyPr>
          <a:lstStyle/>
          <a:p>
            <a:pPr algn="ctr"/>
            <a:r>
              <a:rPr lang="en-IN" sz="1800" b="1" dirty="0">
                <a:solidFill>
                  <a:srgbClr val="444444"/>
                </a:solidFill>
              </a:rPr>
              <a:t>Shared Contextual Token Embeddings</a:t>
            </a:r>
          </a:p>
        </p:txBody>
      </p:sp>
    </p:spTree>
    <p:extLst>
      <p:ext uri="{BB962C8B-B14F-4D97-AF65-F5344CB8AC3E}">
        <p14:creationId xmlns:p14="http://schemas.microsoft.com/office/powerpoint/2010/main" val="2694127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3184" y="124107"/>
            <a:ext cx="6008914" cy="933061"/>
          </a:xfrm>
        </p:spPr>
        <p:txBody>
          <a:bodyPr/>
          <a:lstStyle/>
          <a:p>
            <a:r>
              <a:rPr lang="en-US" dirty="0"/>
              <a:t>ALGORITHMS USED</a:t>
            </a:r>
            <a:endParaRPr lang="en-IN" dirty="0"/>
          </a:p>
        </p:txBody>
      </p:sp>
      <p:sp>
        <p:nvSpPr>
          <p:cNvPr id="3" name="Content Placeholder 2"/>
          <p:cNvSpPr>
            <a:spLocks noGrp="1"/>
          </p:cNvSpPr>
          <p:nvPr>
            <p:ph idx="1"/>
          </p:nvPr>
        </p:nvSpPr>
        <p:spPr>
          <a:xfrm>
            <a:off x="769374" y="905070"/>
            <a:ext cx="10515600" cy="5047860"/>
          </a:xfrm>
        </p:spPr>
        <p:txBody>
          <a:bodyPr>
            <a:noAutofit/>
          </a:bodyPr>
          <a:lstStyle/>
          <a:p>
            <a:pPr marL="0" indent="0">
              <a:buNone/>
            </a:pPr>
            <a:r>
              <a:rPr lang="en-IN" sz="2400" b="1" dirty="0"/>
              <a:t>Model Architecture</a:t>
            </a:r>
          </a:p>
          <a:p>
            <a:r>
              <a:rPr lang="en-IN" sz="2400" dirty="0"/>
              <a:t>XLM-</a:t>
            </a:r>
            <a:r>
              <a:rPr lang="en-IN" sz="2400" dirty="0" err="1"/>
              <a:t>RoBERTa</a:t>
            </a:r>
            <a:endParaRPr lang="en-IN" sz="2400" dirty="0"/>
          </a:p>
          <a:p>
            <a:r>
              <a:rPr lang="en-IN" sz="2400" dirty="0"/>
              <a:t>Self-Attention Mechanism</a:t>
            </a:r>
          </a:p>
          <a:p>
            <a:pPr marL="0" indent="0">
              <a:buNone/>
            </a:pPr>
            <a:r>
              <a:rPr lang="en-IN" sz="2400" b="1" dirty="0"/>
              <a:t>Optimization &amp; Loss</a:t>
            </a:r>
          </a:p>
          <a:p>
            <a:r>
              <a:rPr lang="en-IN" sz="2400" dirty="0" err="1"/>
              <a:t>AdamW</a:t>
            </a:r>
            <a:endParaRPr lang="en-IN" sz="2400" dirty="0"/>
          </a:p>
          <a:p>
            <a:r>
              <a:rPr lang="en-IN" sz="2400" dirty="0"/>
              <a:t>Cross-Entropy</a:t>
            </a:r>
          </a:p>
          <a:p>
            <a:pPr marL="0" indent="0">
              <a:buNone/>
            </a:pPr>
            <a:r>
              <a:rPr lang="en-IN" sz="2400" b="1" dirty="0"/>
              <a:t>Data Processing</a:t>
            </a:r>
          </a:p>
          <a:p>
            <a:r>
              <a:rPr lang="en-IN" sz="2400" dirty="0"/>
              <a:t>BIO Tagging Scheme</a:t>
            </a:r>
          </a:p>
          <a:p>
            <a:r>
              <a:rPr lang="en-IN" sz="2400" dirty="0" err="1"/>
              <a:t>SentencePiece</a:t>
            </a:r>
            <a:endParaRPr lang="en-IN" sz="2400" dirty="0"/>
          </a:p>
          <a:p>
            <a:r>
              <a:rPr lang="en-IN" sz="2400" b="1" dirty="0"/>
              <a:t>Evaluation &amp; Analysis</a:t>
            </a:r>
          </a:p>
          <a:p>
            <a:r>
              <a:rPr lang="en-IN" sz="2400" dirty="0" err="1"/>
              <a:t>Seqeval</a:t>
            </a:r>
            <a:endParaRPr lang="en-IN" sz="2400" dirty="0"/>
          </a:p>
          <a:p>
            <a:r>
              <a:rPr lang="en-IN" sz="2400" dirty="0"/>
              <a:t>t-SNE</a:t>
            </a:r>
          </a:p>
          <a:p>
            <a:pPr marL="0" indent="0">
              <a:buNone/>
            </a:pPr>
            <a:endParaRPr lang="en-IN" sz="1800" dirty="0"/>
          </a:p>
        </p:txBody>
      </p:sp>
    </p:spTree>
    <p:extLst>
      <p:ext uri="{BB962C8B-B14F-4D97-AF65-F5344CB8AC3E}">
        <p14:creationId xmlns:p14="http://schemas.microsoft.com/office/powerpoint/2010/main" val="3972337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1BDFE-7991-3936-B3B0-38FB7357D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B4707-D7FD-56F3-8C7B-33BD39854E57}"/>
              </a:ext>
            </a:extLst>
          </p:cNvPr>
          <p:cNvSpPr>
            <a:spLocks noGrp="1"/>
          </p:cNvSpPr>
          <p:nvPr>
            <p:ph type="title"/>
          </p:nvPr>
        </p:nvSpPr>
        <p:spPr>
          <a:xfrm>
            <a:off x="3791338" y="517399"/>
            <a:ext cx="6008914" cy="933061"/>
          </a:xfrm>
        </p:spPr>
        <p:txBody>
          <a:bodyPr/>
          <a:lstStyle/>
          <a:p>
            <a:r>
              <a:rPr lang="en-US" dirty="0"/>
              <a:t>IMPLEMENTATION</a:t>
            </a:r>
            <a:endParaRPr lang="en-IN" dirty="0"/>
          </a:p>
        </p:txBody>
      </p:sp>
      <p:sp>
        <p:nvSpPr>
          <p:cNvPr id="3" name="Content Placeholder 2">
            <a:extLst>
              <a:ext uri="{FF2B5EF4-FFF2-40B4-BE49-F238E27FC236}">
                <a16:creationId xmlns:a16="http://schemas.microsoft.com/office/drawing/2014/main" id="{AA723722-874A-3FDD-2D23-F2EBEABFF1DC}"/>
              </a:ext>
            </a:extLst>
          </p:cNvPr>
          <p:cNvSpPr>
            <a:spLocks noGrp="1"/>
          </p:cNvSpPr>
          <p:nvPr>
            <p:ph idx="1"/>
          </p:nvPr>
        </p:nvSpPr>
        <p:spPr>
          <a:xfrm>
            <a:off x="838200" y="1627038"/>
            <a:ext cx="10515600" cy="5047860"/>
          </a:xfrm>
        </p:spPr>
        <p:txBody>
          <a:bodyPr>
            <a:noAutofit/>
          </a:bodyPr>
          <a:lstStyle/>
          <a:p>
            <a:pPr algn="just"/>
            <a:r>
              <a:rPr lang="en-IN" sz="2400" b="1" dirty="0"/>
              <a:t>Module 1: Data Loading</a:t>
            </a:r>
            <a:r>
              <a:rPr lang="en-IN" sz="2400" dirty="0"/>
              <a:t> — </a:t>
            </a:r>
            <a:r>
              <a:rPr lang="en-IN" sz="2400" dirty="0" err="1"/>
              <a:t>read_bio_file</a:t>
            </a:r>
            <a:r>
              <a:rPr lang="en-IN" sz="2400" dirty="0"/>
              <a:t>() parses BIO-format text files</a:t>
            </a:r>
          </a:p>
          <a:p>
            <a:pPr algn="just"/>
            <a:r>
              <a:rPr lang="en-IN" sz="2400" b="1" dirty="0"/>
              <a:t>Module 2: </a:t>
            </a:r>
            <a:r>
              <a:rPr lang="en-IN" sz="2400" b="1" dirty="0" err="1"/>
              <a:t>DualModel</a:t>
            </a:r>
            <a:r>
              <a:rPr lang="en-IN" sz="2400" dirty="0"/>
              <a:t> — XLM-</a:t>
            </a:r>
            <a:r>
              <a:rPr lang="en-IN" sz="2400" dirty="0" err="1"/>
              <a:t>RoBERTa</a:t>
            </a:r>
            <a:r>
              <a:rPr lang="en-IN" sz="2400" dirty="0"/>
              <a:t> + two parallel linear classifiers</a:t>
            </a:r>
          </a:p>
          <a:p>
            <a:pPr algn="just"/>
            <a:r>
              <a:rPr lang="en-IN" sz="2400" b="1" dirty="0"/>
              <a:t>Module 3: Inference</a:t>
            </a:r>
            <a:r>
              <a:rPr lang="en-IN" sz="2400" dirty="0"/>
              <a:t> — Hugging Face </a:t>
            </a:r>
            <a:r>
              <a:rPr lang="en-IN" sz="2400" dirty="0" err="1"/>
              <a:t>Trainer.predict</a:t>
            </a:r>
            <a:r>
              <a:rPr lang="en-IN" sz="2400" dirty="0"/>
              <a:t>() + argmax logits</a:t>
            </a:r>
          </a:p>
          <a:p>
            <a:pPr algn="just"/>
            <a:r>
              <a:rPr lang="en-IN" sz="2400" b="1" dirty="0"/>
              <a:t>Module 4: Evaluation</a:t>
            </a:r>
            <a:r>
              <a:rPr lang="en-IN" sz="2400" dirty="0"/>
              <a:t> — precision, recall, F1 via </a:t>
            </a:r>
            <a:r>
              <a:rPr lang="en-IN" sz="2400" dirty="0" err="1"/>
              <a:t>sklearn</a:t>
            </a:r>
            <a:r>
              <a:rPr lang="en-IN" sz="2400" dirty="0"/>
              <a:t> </a:t>
            </a:r>
            <a:r>
              <a:rPr lang="en-IN" sz="2400" dirty="0" err="1"/>
              <a:t>classification_report</a:t>
            </a:r>
            <a:endParaRPr lang="en-IN" sz="2400" dirty="0"/>
          </a:p>
          <a:p>
            <a:pPr algn="just"/>
            <a:r>
              <a:rPr lang="en-IN" sz="2400" b="1" dirty="0"/>
              <a:t>Module 5: Ablation &amp; Robustness</a:t>
            </a:r>
            <a:r>
              <a:rPr lang="en-IN" sz="2400" dirty="0"/>
              <a:t> — compare 4 model configurations</a:t>
            </a:r>
          </a:p>
          <a:p>
            <a:pPr algn="just"/>
            <a:r>
              <a:rPr lang="en-IN" sz="2400" b="1" dirty="0"/>
              <a:t>Module 6: Benchmarking</a:t>
            </a:r>
            <a:r>
              <a:rPr lang="en-IN" sz="2400" dirty="0"/>
              <a:t> — latency, throughput, and parameter count</a:t>
            </a:r>
          </a:p>
          <a:p>
            <a:pPr algn="just"/>
            <a:r>
              <a:rPr lang="en-IN" sz="2400" b="1" dirty="0"/>
              <a:t>Output:</a:t>
            </a:r>
            <a:r>
              <a:rPr lang="en-IN" sz="2400" dirty="0"/>
              <a:t> </a:t>
            </a:r>
            <a:r>
              <a:rPr lang="en-IN" sz="2400" dirty="0" err="1"/>
              <a:t>get_structured_json</a:t>
            </a:r>
            <a:r>
              <a:rPr lang="en-IN" sz="2400" dirty="0"/>
              <a:t>() groups BIO spans into named entity phrases</a:t>
            </a:r>
          </a:p>
          <a:p>
            <a:pPr algn="just"/>
            <a:r>
              <a:rPr lang="en-IN" sz="2400" b="1" dirty="0"/>
              <a:t>Serialization:</a:t>
            </a:r>
            <a:r>
              <a:rPr lang="en-IN" sz="2400" dirty="0"/>
              <a:t> Model saved in </a:t>
            </a:r>
            <a:r>
              <a:rPr lang="en-IN" sz="2400" dirty="0" err="1"/>
              <a:t>safetensors</a:t>
            </a:r>
            <a:r>
              <a:rPr lang="en-IN" sz="2400" dirty="0"/>
              <a:t> format for reuse in inference</a:t>
            </a:r>
          </a:p>
          <a:p>
            <a:pPr marL="0" indent="0">
              <a:buNone/>
            </a:pPr>
            <a:endParaRPr lang="en-IN" sz="1800" dirty="0"/>
          </a:p>
        </p:txBody>
      </p:sp>
    </p:spTree>
    <p:extLst>
      <p:ext uri="{BB962C8B-B14F-4D97-AF65-F5344CB8AC3E}">
        <p14:creationId xmlns:p14="http://schemas.microsoft.com/office/powerpoint/2010/main" val="2003338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D4B62-8EB9-B593-C52D-AE5015FF2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00E80-3BF7-F491-50B4-C5242C29B7C3}"/>
              </a:ext>
            </a:extLst>
          </p:cNvPr>
          <p:cNvSpPr>
            <a:spLocks noGrp="1"/>
          </p:cNvSpPr>
          <p:nvPr>
            <p:ph type="title"/>
          </p:nvPr>
        </p:nvSpPr>
        <p:spPr>
          <a:xfrm>
            <a:off x="3091543" y="345234"/>
            <a:ext cx="6008914" cy="933061"/>
          </a:xfrm>
        </p:spPr>
        <p:txBody>
          <a:bodyPr>
            <a:normAutofit fontScale="90000"/>
          </a:bodyPr>
          <a:lstStyle/>
          <a:p>
            <a:r>
              <a:rPr lang="en-US" dirty="0"/>
              <a:t>TOOLS &amp; TECHNOLOGIES</a:t>
            </a:r>
            <a:endParaRPr lang="en-IN" dirty="0"/>
          </a:p>
        </p:txBody>
      </p:sp>
      <p:sp>
        <p:nvSpPr>
          <p:cNvPr id="3" name="Content Placeholder 2">
            <a:extLst>
              <a:ext uri="{FF2B5EF4-FFF2-40B4-BE49-F238E27FC236}">
                <a16:creationId xmlns:a16="http://schemas.microsoft.com/office/drawing/2014/main" id="{F07B0101-6640-4303-8F5D-EAD0E70DF0F5}"/>
              </a:ext>
            </a:extLst>
          </p:cNvPr>
          <p:cNvSpPr>
            <a:spLocks noGrp="1"/>
          </p:cNvSpPr>
          <p:nvPr>
            <p:ph idx="1"/>
          </p:nvPr>
        </p:nvSpPr>
        <p:spPr>
          <a:xfrm>
            <a:off x="1162665" y="1553397"/>
            <a:ext cx="10515600" cy="5047860"/>
          </a:xfrm>
        </p:spPr>
        <p:txBody>
          <a:bodyPr>
            <a:noAutofit/>
          </a:bodyPr>
          <a:lstStyle/>
          <a:p>
            <a:r>
              <a:rPr lang="en-IN" sz="2400" b="1" dirty="0"/>
              <a:t>Programming Language:</a:t>
            </a:r>
            <a:r>
              <a:rPr lang="en-IN" sz="2400" dirty="0"/>
              <a:t> Python</a:t>
            </a:r>
          </a:p>
          <a:p>
            <a:r>
              <a:rPr lang="en-IN" sz="2400" b="1" dirty="0"/>
              <a:t>Deep Learning:</a:t>
            </a:r>
            <a:r>
              <a:rPr lang="en-IN" sz="2400" dirty="0"/>
              <a:t> </a:t>
            </a:r>
            <a:r>
              <a:rPr lang="en-IN" sz="2400" dirty="0" err="1"/>
              <a:t>PyTorch</a:t>
            </a:r>
            <a:r>
              <a:rPr lang="en-IN" sz="2400" dirty="0"/>
              <a:t>, Hugging Face Transformers</a:t>
            </a:r>
          </a:p>
          <a:p>
            <a:r>
              <a:rPr lang="en-IN" sz="2400" b="1" dirty="0"/>
              <a:t>Pretrained Model:</a:t>
            </a:r>
            <a:r>
              <a:rPr lang="en-IN" sz="2400" dirty="0"/>
              <a:t> </a:t>
            </a:r>
            <a:r>
              <a:rPr lang="en-IN" sz="2400" dirty="0" err="1"/>
              <a:t>xlm</a:t>
            </a:r>
            <a:r>
              <a:rPr lang="en-IN" sz="2400" dirty="0"/>
              <a:t>-</a:t>
            </a:r>
            <a:r>
              <a:rPr lang="en-IN" sz="2400" dirty="0" err="1"/>
              <a:t>roberta</a:t>
            </a:r>
            <a:r>
              <a:rPr lang="en-IN" sz="2400" dirty="0"/>
              <a:t>-base (XLM-</a:t>
            </a:r>
            <a:r>
              <a:rPr lang="en-IN" sz="2400" dirty="0" err="1"/>
              <a:t>RoBERTa</a:t>
            </a:r>
            <a:r>
              <a:rPr lang="en-IN" sz="2400" dirty="0"/>
              <a:t>)</a:t>
            </a:r>
          </a:p>
          <a:p>
            <a:r>
              <a:rPr lang="en-IN" sz="2400" b="1" dirty="0"/>
              <a:t>Dataset Format:</a:t>
            </a:r>
            <a:r>
              <a:rPr lang="en-IN" sz="2400" dirty="0"/>
              <a:t> BIO-annotated multilingual CV text files</a:t>
            </a:r>
          </a:p>
          <a:p>
            <a:r>
              <a:rPr lang="en-IN" sz="2400" b="1" dirty="0"/>
              <a:t>Evaluation:</a:t>
            </a:r>
            <a:r>
              <a:rPr lang="en-IN" sz="2400" dirty="0"/>
              <a:t> Scikit-learn (</a:t>
            </a:r>
            <a:r>
              <a:rPr lang="en-IN" sz="2400" dirty="0" err="1"/>
              <a:t>classification_report</a:t>
            </a:r>
            <a:r>
              <a:rPr lang="en-IN" sz="2400" dirty="0"/>
              <a:t>) and </a:t>
            </a:r>
            <a:r>
              <a:rPr lang="en-IN" sz="2400" dirty="0" err="1"/>
              <a:t>seqeval</a:t>
            </a:r>
            <a:endParaRPr lang="en-IN" sz="2400" dirty="0"/>
          </a:p>
          <a:p>
            <a:r>
              <a:rPr lang="en-IN" sz="2400" b="1" dirty="0"/>
              <a:t>Data Handling:</a:t>
            </a:r>
            <a:r>
              <a:rPr lang="en-IN" sz="2400" dirty="0"/>
              <a:t> NumPy, Pandas</a:t>
            </a:r>
          </a:p>
          <a:p>
            <a:r>
              <a:rPr lang="en-IN" sz="2400" b="1" dirty="0"/>
              <a:t>Development Tools:</a:t>
            </a:r>
            <a:r>
              <a:rPr lang="en-IN" sz="2400" dirty="0"/>
              <a:t> </a:t>
            </a:r>
            <a:r>
              <a:rPr lang="en-IN" sz="2400" dirty="0" err="1"/>
              <a:t>Jupyter</a:t>
            </a:r>
            <a:r>
              <a:rPr lang="en-IN" sz="2400" dirty="0"/>
              <a:t> Notebook and Google </a:t>
            </a:r>
            <a:r>
              <a:rPr lang="en-IN" sz="2400" dirty="0" err="1"/>
              <a:t>Colab</a:t>
            </a:r>
            <a:endParaRPr lang="en-IN" sz="2400" dirty="0"/>
          </a:p>
          <a:p>
            <a:r>
              <a:rPr lang="en-IN" sz="2400" b="1" dirty="0"/>
              <a:t>Hardware:</a:t>
            </a:r>
            <a:r>
              <a:rPr lang="en-IN" sz="2400" dirty="0"/>
              <a:t> Intel i5+, 8–16 GB RAM, GPU recommended for training</a:t>
            </a:r>
          </a:p>
          <a:p>
            <a:pPr marL="0" indent="0">
              <a:buNone/>
            </a:pPr>
            <a:br>
              <a:rPr lang="en-IN" sz="1800" dirty="0"/>
            </a:br>
            <a:endParaRPr lang="en-IN" sz="1800" dirty="0"/>
          </a:p>
        </p:txBody>
      </p:sp>
    </p:spTree>
    <p:extLst>
      <p:ext uri="{BB962C8B-B14F-4D97-AF65-F5344CB8AC3E}">
        <p14:creationId xmlns:p14="http://schemas.microsoft.com/office/powerpoint/2010/main" val="3092340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EA74D-60D8-E8B8-B0AB-586503876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CC0AD-AF28-82BD-2A02-C43574401030}"/>
              </a:ext>
            </a:extLst>
          </p:cNvPr>
          <p:cNvSpPr>
            <a:spLocks noGrp="1"/>
          </p:cNvSpPr>
          <p:nvPr>
            <p:ph type="title"/>
          </p:nvPr>
        </p:nvSpPr>
        <p:spPr>
          <a:xfrm>
            <a:off x="2914563" y="443556"/>
            <a:ext cx="6008914" cy="933061"/>
          </a:xfrm>
        </p:spPr>
        <p:txBody>
          <a:bodyPr>
            <a:normAutofit/>
          </a:bodyPr>
          <a:lstStyle/>
          <a:p>
            <a:r>
              <a:rPr lang="en-US" dirty="0"/>
              <a:t>DATASET DESCRIPTION</a:t>
            </a:r>
            <a:endParaRPr lang="en-IN" dirty="0"/>
          </a:p>
        </p:txBody>
      </p:sp>
      <p:sp>
        <p:nvSpPr>
          <p:cNvPr id="3" name="Content Placeholder 2">
            <a:extLst>
              <a:ext uri="{FF2B5EF4-FFF2-40B4-BE49-F238E27FC236}">
                <a16:creationId xmlns:a16="http://schemas.microsoft.com/office/drawing/2014/main" id="{289CDEAB-88F0-285D-625E-F8EEDF5F38E1}"/>
              </a:ext>
            </a:extLst>
          </p:cNvPr>
          <p:cNvSpPr>
            <a:spLocks noGrp="1"/>
          </p:cNvSpPr>
          <p:nvPr>
            <p:ph idx="1"/>
          </p:nvPr>
        </p:nvSpPr>
        <p:spPr>
          <a:xfrm>
            <a:off x="966019" y="1553397"/>
            <a:ext cx="10911348" cy="5047860"/>
          </a:xfrm>
        </p:spPr>
        <p:txBody>
          <a:bodyPr>
            <a:noAutofit/>
          </a:bodyPr>
          <a:lstStyle/>
          <a:p>
            <a:r>
              <a:rPr lang="en-IN" sz="2400" dirty="0"/>
              <a:t>1,686 manually annotated multilingual CV documents </a:t>
            </a:r>
          </a:p>
          <a:p>
            <a:r>
              <a:rPr lang="en-IN" sz="2400" dirty="0"/>
              <a:t>Languages: English, Swedish, Finnish, Polish, Norwegian </a:t>
            </a:r>
          </a:p>
          <a:p>
            <a:r>
              <a:rPr lang="en-IN" sz="2400" dirty="0"/>
              <a:t>English has the highest number of CV samples </a:t>
            </a:r>
          </a:p>
          <a:p>
            <a:r>
              <a:rPr lang="en-IN" sz="2400" dirty="0"/>
              <a:t>Two-level annotation strategy is used </a:t>
            </a:r>
          </a:p>
          <a:p>
            <a:r>
              <a:rPr lang="en-IN" sz="2400" dirty="0"/>
              <a:t>Section-level: PERSONAL, EMP_INFO, EDUCATION, SKILLS </a:t>
            </a:r>
          </a:p>
          <a:p>
            <a:r>
              <a:rPr lang="en-IN" sz="2400" dirty="0"/>
              <a:t>Item-level: NAME, ADR, MAI, NMR, ORG, ROL, DAT, DUR, EDU, DEG, CER, LOC, LAN, SKILL </a:t>
            </a:r>
          </a:p>
          <a:p>
            <a:r>
              <a:rPr lang="en-IN" sz="2400" dirty="0"/>
              <a:t>BIO tagging scheme applied for entity </a:t>
            </a:r>
            <a:r>
              <a:rPr lang="en-IN" sz="2400" dirty="0" err="1"/>
              <a:t>labeling</a:t>
            </a:r>
            <a:r>
              <a:rPr lang="en-IN" sz="2400" dirty="0"/>
              <a:t> </a:t>
            </a:r>
          </a:p>
          <a:p>
            <a:r>
              <a:rPr lang="en-IN" sz="2400" dirty="0"/>
              <a:t>Dataset split: Train (66.7%), Validation (16.7%), Test (16.7%) </a:t>
            </a:r>
          </a:p>
          <a:p>
            <a:pPr marL="0" indent="0">
              <a:buNone/>
            </a:pPr>
            <a:br>
              <a:rPr lang="en-IN" sz="1800" dirty="0"/>
            </a:br>
            <a:endParaRPr lang="en-IN" sz="1800" dirty="0"/>
          </a:p>
        </p:txBody>
      </p:sp>
    </p:spTree>
    <p:extLst>
      <p:ext uri="{BB962C8B-B14F-4D97-AF65-F5344CB8AC3E}">
        <p14:creationId xmlns:p14="http://schemas.microsoft.com/office/powerpoint/2010/main" val="3048082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769326" y="-100563"/>
            <a:ext cx="10515600" cy="1325563"/>
          </a:xfrm>
        </p:spPr>
        <p:txBody>
          <a:bodyPr/>
          <a:lstStyle/>
          <a:p>
            <a:r>
              <a:rPr lang="en-IN" dirty="0"/>
              <a:t>RESULTS AND ANALYSIS</a:t>
            </a:r>
          </a:p>
        </p:txBody>
      </p:sp>
      <p:sp>
        <p:nvSpPr>
          <p:cNvPr id="2" name="b10">
            <a:extLst>
              <a:ext uri="{FF2B5EF4-FFF2-40B4-BE49-F238E27FC236}">
                <a16:creationId xmlns:a16="http://schemas.microsoft.com/office/drawing/2014/main" id="{33A27A56-7FD9-6363-5F5A-0D1C52E5064E}"/>
              </a:ext>
            </a:extLst>
          </p:cNvPr>
          <p:cNvSpPr/>
          <p:nvPr/>
        </p:nvSpPr>
        <p:spPr>
          <a:xfrm>
            <a:off x="350000" y="1300000"/>
            <a:ext cx="3200000" cy="820000"/>
          </a:xfrm>
          <a:prstGeom prst="rect">
            <a:avLst/>
          </a:prstGeom>
          <a:solidFill>
            <a:srgbClr val="003366"/>
          </a:solidFill>
          <a:ln w="9525">
            <a:solidFill>
              <a:srgbClr val="BBBBBB"/>
            </a:solidFill>
          </a:ln>
        </p:spPr>
        <p:txBody>
          <a:bodyPr anchor="ctr">
            <a:normAutofit/>
          </a:bodyPr>
          <a:lstStyle/>
          <a:p>
            <a:pPr algn="ctr"/>
            <a:r>
              <a:rPr lang="en-IN" b="1" dirty="0">
                <a:solidFill>
                  <a:srgbClr val="FFFFFF"/>
                </a:solidFill>
              </a:rPr>
              <a:t>INPUT</a:t>
            </a:r>
          </a:p>
        </p:txBody>
      </p:sp>
      <p:sp>
        <p:nvSpPr>
          <p:cNvPr id="6" name="b11">
            <a:extLst>
              <a:ext uri="{FF2B5EF4-FFF2-40B4-BE49-F238E27FC236}">
                <a16:creationId xmlns:a16="http://schemas.microsoft.com/office/drawing/2014/main" id="{0D747D89-DEE3-D62E-B327-327250AB48BF}"/>
              </a:ext>
            </a:extLst>
          </p:cNvPr>
          <p:cNvSpPr/>
          <p:nvPr/>
        </p:nvSpPr>
        <p:spPr>
          <a:xfrm>
            <a:off x="4496000" y="1300000"/>
            <a:ext cx="3200000" cy="820000"/>
          </a:xfrm>
          <a:prstGeom prst="rect">
            <a:avLst/>
          </a:prstGeom>
          <a:solidFill>
            <a:srgbClr val="006699"/>
          </a:solidFill>
          <a:ln w="9525">
            <a:solidFill>
              <a:srgbClr val="BBBBBB"/>
            </a:solidFill>
          </a:ln>
        </p:spPr>
        <p:txBody>
          <a:bodyPr anchor="ctr">
            <a:normAutofit/>
          </a:bodyPr>
          <a:lstStyle/>
          <a:p>
            <a:pPr algn="ctr"/>
            <a:r>
              <a:rPr lang="en-IN" sz="1800" b="1" dirty="0">
                <a:solidFill>
                  <a:srgbClr val="FFFFFF"/>
                </a:solidFill>
              </a:rPr>
              <a:t>PROCESS</a:t>
            </a:r>
          </a:p>
        </p:txBody>
      </p:sp>
      <p:sp>
        <p:nvSpPr>
          <p:cNvPr id="7" name="b12">
            <a:extLst>
              <a:ext uri="{FF2B5EF4-FFF2-40B4-BE49-F238E27FC236}">
                <a16:creationId xmlns:a16="http://schemas.microsoft.com/office/drawing/2014/main" id="{A3F989C4-844F-D0EE-FD78-9B565D6A6337}"/>
              </a:ext>
            </a:extLst>
          </p:cNvPr>
          <p:cNvSpPr/>
          <p:nvPr/>
        </p:nvSpPr>
        <p:spPr>
          <a:xfrm>
            <a:off x="8600000" y="1300000"/>
            <a:ext cx="3200000" cy="820000"/>
          </a:xfrm>
          <a:prstGeom prst="rect">
            <a:avLst/>
          </a:prstGeom>
          <a:solidFill>
            <a:srgbClr val="006633"/>
          </a:solidFill>
          <a:ln w="9525">
            <a:solidFill>
              <a:srgbClr val="BBBBBB"/>
            </a:solidFill>
          </a:ln>
        </p:spPr>
        <p:txBody>
          <a:bodyPr anchor="ctr">
            <a:normAutofit/>
          </a:bodyPr>
          <a:lstStyle/>
          <a:p>
            <a:pPr algn="ctr"/>
            <a:r>
              <a:rPr lang="en-IN" sz="1800" b="1" dirty="0">
                <a:solidFill>
                  <a:srgbClr val="FFFFFF"/>
                </a:solidFill>
              </a:rPr>
              <a:t>OUTPUT</a:t>
            </a:r>
          </a:p>
        </p:txBody>
      </p:sp>
      <p:sp>
        <p:nvSpPr>
          <p:cNvPr id="8" name="ar20">
            <a:extLst>
              <a:ext uri="{FF2B5EF4-FFF2-40B4-BE49-F238E27FC236}">
                <a16:creationId xmlns:a16="http://schemas.microsoft.com/office/drawing/2014/main" id="{3A301B95-F2AB-119B-0121-114BDE6AEEC1}"/>
              </a:ext>
            </a:extLst>
          </p:cNvPr>
          <p:cNvSpPr/>
          <p:nvPr/>
        </p:nvSpPr>
        <p:spPr>
          <a:xfrm>
            <a:off x="3798000" y="1755792"/>
            <a:ext cx="450000" cy="180000"/>
          </a:xfrm>
          <a:prstGeom prst="rightArrow">
            <a:avLst/>
          </a:prstGeom>
          <a:solidFill>
            <a:srgbClr val="555555"/>
          </a:solidFill>
          <a:ln>
            <a:noFill/>
          </a:ln>
        </p:spPr>
        <p:txBody>
          <a:bodyPr/>
          <a:lstStyle/>
          <a:p>
            <a:endParaRPr lang="en-IN" dirty="0"/>
          </a:p>
        </p:txBody>
      </p:sp>
      <p:sp>
        <p:nvSpPr>
          <p:cNvPr id="9" name="ar21">
            <a:extLst>
              <a:ext uri="{FF2B5EF4-FFF2-40B4-BE49-F238E27FC236}">
                <a16:creationId xmlns:a16="http://schemas.microsoft.com/office/drawing/2014/main" id="{849FF723-B63D-C385-6CFC-F7F3E896F517}"/>
              </a:ext>
            </a:extLst>
          </p:cNvPr>
          <p:cNvSpPr/>
          <p:nvPr/>
        </p:nvSpPr>
        <p:spPr>
          <a:xfrm>
            <a:off x="7888720" y="1757504"/>
            <a:ext cx="450000" cy="180000"/>
          </a:xfrm>
          <a:prstGeom prst="rightArrow">
            <a:avLst/>
          </a:prstGeom>
          <a:solidFill>
            <a:srgbClr val="555555"/>
          </a:solidFill>
          <a:ln>
            <a:noFill/>
          </a:ln>
        </p:spPr>
        <p:txBody>
          <a:bodyPr/>
          <a:lstStyle/>
          <a:p>
            <a:endParaRPr lang="en-IN" dirty="0"/>
          </a:p>
        </p:txBody>
      </p:sp>
      <p:sp>
        <p:nvSpPr>
          <p:cNvPr id="10" name="b30">
            <a:extLst>
              <a:ext uri="{FF2B5EF4-FFF2-40B4-BE49-F238E27FC236}">
                <a16:creationId xmlns:a16="http://schemas.microsoft.com/office/drawing/2014/main" id="{88F02FCC-ED0A-1DB3-309C-4F5EC64008ED}"/>
              </a:ext>
            </a:extLst>
          </p:cNvPr>
          <p:cNvSpPr/>
          <p:nvPr/>
        </p:nvSpPr>
        <p:spPr>
          <a:xfrm>
            <a:off x="350000" y="2240000"/>
            <a:ext cx="3200000" cy="460000"/>
          </a:xfrm>
          <a:prstGeom prst="rect">
            <a:avLst/>
          </a:prstGeom>
          <a:solidFill>
            <a:srgbClr val="D6EAF8"/>
          </a:solidFill>
          <a:ln w="9525">
            <a:solidFill>
              <a:srgbClr val="BBBBBB"/>
            </a:solidFill>
          </a:ln>
        </p:spPr>
        <p:txBody>
          <a:bodyPr anchor="ctr">
            <a:noAutofit/>
          </a:bodyPr>
          <a:lstStyle/>
          <a:p>
            <a:pPr algn="ctr"/>
            <a:r>
              <a:rPr lang="en-IN" b="1" dirty="0">
                <a:solidFill>
                  <a:srgbClr val="003366"/>
                </a:solidFill>
              </a:rPr>
              <a:t>Multilingual CV (PDF/DOCX/TXT)</a:t>
            </a:r>
          </a:p>
        </p:txBody>
      </p:sp>
      <p:sp>
        <p:nvSpPr>
          <p:cNvPr id="11" name="b31">
            <a:extLst>
              <a:ext uri="{FF2B5EF4-FFF2-40B4-BE49-F238E27FC236}">
                <a16:creationId xmlns:a16="http://schemas.microsoft.com/office/drawing/2014/main" id="{21F50295-F290-BA3B-1406-653186F3EB84}"/>
              </a:ext>
            </a:extLst>
          </p:cNvPr>
          <p:cNvSpPr/>
          <p:nvPr/>
        </p:nvSpPr>
        <p:spPr>
          <a:xfrm>
            <a:off x="350000" y="2775000"/>
            <a:ext cx="3200000" cy="460000"/>
          </a:xfrm>
          <a:prstGeom prst="rect">
            <a:avLst/>
          </a:prstGeom>
          <a:solidFill>
            <a:srgbClr val="D6EAF8"/>
          </a:solidFill>
          <a:ln w="9525">
            <a:solidFill>
              <a:srgbClr val="BBBBBB"/>
            </a:solidFill>
          </a:ln>
        </p:spPr>
        <p:txBody>
          <a:bodyPr anchor="ctr">
            <a:noAutofit/>
          </a:bodyPr>
          <a:lstStyle/>
          <a:p>
            <a:pPr algn="ctr"/>
            <a:r>
              <a:rPr lang="en-IN" b="1" dirty="0">
                <a:solidFill>
                  <a:srgbClr val="003366"/>
                </a:solidFill>
              </a:rPr>
              <a:t>BIO-annotated tokens (BIO format)</a:t>
            </a:r>
          </a:p>
        </p:txBody>
      </p:sp>
      <p:sp>
        <p:nvSpPr>
          <p:cNvPr id="12" name="b32">
            <a:extLst>
              <a:ext uri="{FF2B5EF4-FFF2-40B4-BE49-F238E27FC236}">
                <a16:creationId xmlns:a16="http://schemas.microsoft.com/office/drawing/2014/main" id="{90667EEC-BA3B-40D3-86BC-67EBCDD021E8}"/>
              </a:ext>
            </a:extLst>
          </p:cNvPr>
          <p:cNvSpPr/>
          <p:nvPr/>
        </p:nvSpPr>
        <p:spPr>
          <a:xfrm>
            <a:off x="350000" y="3310000"/>
            <a:ext cx="3200000" cy="460000"/>
          </a:xfrm>
          <a:prstGeom prst="rect">
            <a:avLst/>
          </a:prstGeom>
          <a:solidFill>
            <a:srgbClr val="D6EAF8"/>
          </a:solidFill>
          <a:ln w="9525">
            <a:solidFill>
              <a:srgbClr val="BBBBBB"/>
            </a:solidFill>
          </a:ln>
        </p:spPr>
        <p:txBody>
          <a:bodyPr anchor="ctr">
            <a:normAutofit/>
          </a:bodyPr>
          <a:lstStyle/>
          <a:p>
            <a:pPr algn="ctr"/>
            <a:r>
              <a:rPr lang="en-IN" b="1" dirty="0">
                <a:solidFill>
                  <a:srgbClr val="003366"/>
                </a:solidFill>
              </a:rPr>
              <a:t>5 Languages: EN SV FI PL NO</a:t>
            </a:r>
          </a:p>
        </p:txBody>
      </p:sp>
      <p:sp>
        <p:nvSpPr>
          <p:cNvPr id="13" name="b40">
            <a:extLst>
              <a:ext uri="{FF2B5EF4-FFF2-40B4-BE49-F238E27FC236}">
                <a16:creationId xmlns:a16="http://schemas.microsoft.com/office/drawing/2014/main" id="{294E2149-8843-A030-24A1-018F0F64CDEB}"/>
              </a:ext>
            </a:extLst>
          </p:cNvPr>
          <p:cNvSpPr/>
          <p:nvPr/>
        </p:nvSpPr>
        <p:spPr>
          <a:xfrm>
            <a:off x="4496000" y="2240000"/>
            <a:ext cx="3200000" cy="460000"/>
          </a:xfrm>
          <a:prstGeom prst="rect">
            <a:avLst/>
          </a:prstGeom>
          <a:solidFill>
            <a:srgbClr val="EBF5FB"/>
          </a:solidFill>
          <a:ln w="9525">
            <a:solidFill>
              <a:srgbClr val="BBBBBB"/>
            </a:solidFill>
          </a:ln>
        </p:spPr>
        <p:txBody>
          <a:bodyPr anchor="ctr">
            <a:noAutofit/>
          </a:bodyPr>
          <a:lstStyle/>
          <a:p>
            <a:pPr algn="ctr"/>
            <a:r>
              <a:rPr lang="en-IN" b="1" dirty="0">
                <a:solidFill>
                  <a:srgbClr val="005577"/>
                </a:solidFill>
              </a:rPr>
              <a:t>XLM-RoBERTa Tokenization (max 256 tok)</a:t>
            </a:r>
          </a:p>
        </p:txBody>
      </p:sp>
      <p:sp>
        <p:nvSpPr>
          <p:cNvPr id="14" name="b41">
            <a:extLst>
              <a:ext uri="{FF2B5EF4-FFF2-40B4-BE49-F238E27FC236}">
                <a16:creationId xmlns:a16="http://schemas.microsoft.com/office/drawing/2014/main" id="{7AFA0DCA-E41C-BFD5-689E-A94850B3D390}"/>
              </a:ext>
            </a:extLst>
          </p:cNvPr>
          <p:cNvSpPr/>
          <p:nvPr/>
        </p:nvSpPr>
        <p:spPr>
          <a:xfrm>
            <a:off x="4496000" y="2775000"/>
            <a:ext cx="3200000" cy="460000"/>
          </a:xfrm>
          <a:prstGeom prst="rect">
            <a:avLst/>
          </a:prstGeom>
          <a:solidFill>
            <a:srgbClr val="EBF5FB"/>
          </a:solidFill>
          <a:ln w="9525">
            <a:solidFill>
              <a:srgbClr val="BBBBBB"/>
            </a:solidFill>
          </a:ln>
        </p:spPr>
        <p:txBody>
          <a:bodyPr anchor="ctr">
            <a:noAutofit/>
          </a:bodyPr>
          <a:lstStyle/>
          <a:p>
            <a:pPr algn="ctr"/>
            <a:r>
              <a:rPr lang="en-IN" b="1" dirty="0">
                <a:solidFill>
                  <a:srgbClr val="005577"/>
                </a:solidFill>
              </a:rPr>
              <a:t>DualModel: NER Head + Section Head</a:t>
            </a:r>
          </a:p>
        </p:txBody>
      </p:sp>
      <p:sp>
        <p:nvSpPr>
          <p:cNvPr id="15" name="b42">
            <a:extLst>
              <a:ext uri="{FF2B5EF4-FFF2-40B4-BE49-F238E27FC236}">
                <a16:creationId xmlns:a16="http://schemas.microsoft.com/office/drawing/2014/main" id="{30033382-BCA7-56B7-A130-83D4D2300FD3}"/>
              </a:ext>
            </a:extLst>
          </p:cNvPr>
          <p:cNvSpPr/>
          <p:nvPr/>
        </p:nvSpPr>
        <p:spPr>
          <a:xfrm>
            <a:off x="4496000" y="3310000"/>
            <a:ext cx="3200000" cy="460000"/>
          </a:xfrm>
          <a:prstGeom prst="rect">
            <a:avLst/>
          </a:prstGeom>
          <a:solidFill>
            <a:srgbClr val="EBF5FB"/>
          </a:solidFill>
          <a:ln w="9525">
            <a:solidFill>
              <a:srgbClr val="BBBBBB"/>
            </a:solidFill>
          </a:ln>
        </p:spPr>
        <p:txBody>
          <a:bodyPr anchor="ctr">
            <a:noAutofit/>
          </a:bodyPr>
          <a:lstStyle/>
          <a:p>
            <a:pPr algn="ctr"/>
            <a:r>
              <a:rPr lang="en-IN" b="1" dirty="0">
                <a:solidFill>
                  <a:srgbClr val="005577"/>
                </a:solidFill>
              </a:rPr>
              <a:t>Combined Cross-Entropy Loss Training</a:t>
            </a:r>
          </a:p>
        </p:txBody>
      </p:sp>
      <p:sp>
        <p:nvSpPr>
          <p:cNvPr id="16" name="b50">
            <a:extLst>
              <a:ext uri="{FF2B5EF4-FFF2-40B4-BE49-F238E27FC236}">
                <a16:creationId xmlns:a16="http://schemas.microsoft.com/office/drawing/2014/main" id="{DF741439-391A-244D-FB46-327647ED58AD}"/>
              </a:ext>
            </a:extLst>
          </p:cNvPr>
          <p:cNvSpPr/>
          <p:nvPr/>
        </p:nvSpPr>
        <p:spPr>
          <a:xfrm>
            <a:off x="8600000" y="2240000"/>
            <a:ext cx="3200000" cy="460000"/>
          </a:xfrm>
          <a:prstGeom prst="rect">
            <a:avLst/>
          </a:prstGeom>
          <a:solidFill>
            <a:srgbClr val="D5F5E3"/>
          </a:solidFill>
          <a:ln w="9525">
            <a:solidFill>
              <a:srgbClr val="BBBBBB"/>
            </a:solidFill>
          </a:ln>
        </p:spPr>
        <p:txBody>
          <a:bodyPr anchor="ctr">
            <a:noAutofit/>
          </a:bodyPr>
          <a:lstStyle/>
          <a:p>
            <a:pPr algn="ctr"/>
            <a:r>
              <a:rPr lang="en-IN" b="1" dirty="0">
                <a:solidFill>
                  <a:srgbClr val="004422"/>
                </a:solidFill>
              </a:rPr>
              <a:t>Item NER  F1 = 0.9709  (Test Set)</a:t>
            </a:r>
          </a:p>
        </p:txBody>
      </p:sp>
      <p:sp>
        <p:nvSpPr>
          <p:cNvPr id="17" name="b51">
            <a:extLst>
              <a:ext uri="{FF2B5EF4-FFF2-40B4-BE49-F238E27FC236}">
                <a16:creationId xmlns:a16="http://schemas.microsoft.com/office/drawing/2014/main" id="{87BC527F-526C-0BA8-BFAC-68A47738821A}"/>
              </a:ext>
            </a:extLst>
          </p:cNvPr>
          <p:cNvSpPr/>
          <p:nvPr/>
        </p:nvSpPr>
        <p:spPr>
          <a:xfrm>
            <a:off x="8600000" y="2775000"/>
            <a:ext cx="3200000" cy="460000"/>
          </a:xfrm>
          <a:prstGeom prst="rect">
            <a:avLst/>
          </a:prstGeom>
          <a:solidFill>
            <a:srgbClr val="D5F5E3"/>
          </a:solidFill>
          <a:ln w="9525">
            <a:solidFill>
              <a:srgbClr val="BBBBBB"/>
            </a:solidFill>
          </a:ln>
        </p:spPr>
        <p:txBody>
          <a:bodyPr anchor="ctr">
            <a:noAutofit/>
          </a:bodyPr>
          <a:lstStyle/>
          <a:p>
            <a:pPr algn="ctr"/>
            <a:r>
              <a:rPr lang="en-IN" b="1" dirty="0">
                <a:solidFill>
                  <a:srgbClr val="004422"/>
                </a:solidFill>
              </a:rPr>
              <a:t>Section   F1 = 0.9491  (Test Set)</a:t>
            </a:r>
          </a:p>
        </p:txBody>
      </p:sp>
      <p:sp>
        <p:nvSpPr>
          <p:cNvPr id="18" name="b52">
            <a:extLst>
              <a:ext uri="{FF2B5EF4-FFF2-40B4-BE49-F238E27FC236}">
                <a16:creationId xmlns:a16="http://schemas.microsoft.com/office/drawing/2014/main" id="{35390C77-AA74-ADDF-BDB7-088C5DBAE677}"/>
              </a:ext>
            </a:extLst>
          </p:cNvPr>
          <p:cNvSpPr/>
          <p:nvPr/>
        </p:nvSpPr>
        <p:spPr>
          <a:xfrm>
            <a:off x="8600000" y="3310000"/>
            <a:ext cx="3200000" cy="460000"/>
          </a:xfrm>
          <a:prstGeom prst="rect">
            <a:avLst/>
          </a:prstGeom>
          <a:solidFill>
            <a:srgbClr val="D5F5E3"/>
          </a:solidFill>
          <a:ln w="9525">
            <a:solidFill>
              <a:srgbClr val="BBBBBB"/>
            </a:solidFill>
          </a:ln>
        </p:spPr>
        <p:txBody>
          <a:bodyPr anchor="ctr">
            <a:noAutofit/>
          </a:bodyPr>
          <a:lstStyle/>
          <a:p>
            <a:pPr algn="ctr"/>
            <a:r>
              <a:rPr lang="en-IN" b="1" dirty="0">
                <a:solidFill>
                  <a:srgbClr val="004422"/>
                </a:solidFill>
              </a:rPr>
              <a:t>Structured JSON  (NAME, ORG, DEG …)</a:t>
            </a:r>
          </a:p>
        </p:txBody>
      </p:sp>
      <p:sp>
        <p:nvSpPr>
          <p:cNvPr id="19" name="b70">
            <a:extLst>
              <a:ext uri="{FF2B5EF4-FFF2-40B4-BE49-F238E27FC236}">
                <a16:creationId xmlns:a16="http://schemas.microsoft.com/office/drawing/2014/main" id="{0319FB53-A97B-C5D8-5DEC-EC8242DC1364}"/>
              </a:ext>
            </a:extLst>
          </p:cNvPr>
          <p:cNvSpPr/>
          <p:nvPr/>
        </p:nvSpPr>
        <p:spPr>
          <a:xfrm>
            <a:off x="350000" y="5600000"/>
            <a:ext cx="11500000" cy="750000"/>
          </a:xfrm>
          <a:prstGeom prst="rect">
            <a:avLst/>
          </a:prstGeom>
          <a:solidFill>
            <a:srgbClr val="003366"/>
          </a:solidFill>
          <a:ln w="9525">
            <a:solidFill>
              <a:srgbClr val="BBBBBB"/>
            </a:solidFill>
          </a:ln>
        </p:spPr>
        <p:txBody>
          <a:bodyPr anchor="ctr">
            <a:normAutofit/>
          </a:bodyPr>
          <a:lstStyle/>
          <a:p>
            <a:pPr algn="ctr"/>
            <a:r>
              <a:rPr lang="en-IN" b="1" dirty="0">
                <a:solidFill>
                  <a:srgbClr val="FFFFFF"/>
                </a:solidFill>
              </a:rPr>
              <a:t>KEY RESULTS   |   Item NER F1: 0.9709   |   Section F1: 0.9491   |   5 Languages   |   All F1 &gt; 0.95</a:t>
            </a:r>
          </a:p>
        </p:txBody>
      </p:sp>
    </p:spTree>
    <p:extLst>
      <p:ext uri="{BB962C8B-B14F-4D97-AF65-F5344CB8AC3E}">
        <p14:creationId xmlns:p14="http://schemas.microsoft.com/office/powerpoint/2010/main" val="2808834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78767" y="154813"/>
            <a:ext cx="10885714" cy="1325563"/>
          </a:xfrm>
        </p:spPr>
        <p:txBody>
          <a:bodyPr/>
          <a:lstStyle/>
          <a:p>
            <a:r>
              <a:rPr lang="en-IN" dirty="0"/>
              <a:t>RESULTS AND ANALYSIS</a:t>
            </a:r>
          </a:p>
        </p:txBody>
      </p:sp>
      <p:pic>
        <p:nvPicPr>
          <p:cNvPr id="6" name="Picture 5">
            <a:extLst>
              <a:ext uri="{FF2B5EF4-FFF2-40B4-BE49-F238E27FC236}">
                <a16:creationId xmlns:a16="http://schemas.microsoft.com/office/drawing/2014/main" id="{01EB489F-96CD-BF1A-42C3-2251A38E3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892" y="1480376"/>
            <a:ext cx="10226215" cy="2157092"/>
          </a:xfrm>
          <a:prstGeom prst="rect">
            <a:avLst/>
          </a:prstGeom>
        </p:spPr>
      </p:pic>
      <p:pic>
        <p:nvPicPr>
          <p:cNvPr id="8" name="Picture 7">
            <a:extLst>
              <a:ext uri="{FF2B5EF4-FFF2-40B4-BE49-F238E27FC236}">
                <a16:creationId xmlns:a16="http://schemas.microsoft.com/office/drawing/2014/main" id="{1A4FAF27-E9B4-B572-EED2-97B03C663A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1485" y="4334293"/>
            <a:ext cx="8516539" cy="1257475"/>
          </a:xfrm>
          <a:prstGeom prst="rect">
            <a:avLst/>
          </a:prstGeom>
        </p:spPr>
      </p:pic>
      <p:sp>
        <p:nvSpPr>
          <p:cNvPr id="9" name="TextBox 8">
            <a:extLst>
              <a:ext uri="{FF2B5EF4-FFF2-40B4-BE49-F238E27FC236}">
                <a16:creationId xmlns:a16="http://schemas.microsoft.com/office/drawing/2014/main" id="{93486A3C-823A-8368-16BC-42DAE83ED372}"/>
              </a:ext>
            </a:extLst>
          </p:cNvPr>
          <p:cNvSpPr txBox="1"/>
          <p:nvPr/>
        </p:nvSpPr>
        <p:spPr>
          <a:xfrm>
            <a:off x="2978767" y="3753650"/>
            <a:ext cx="8933688" cy="369332"/>
          </a:xfrm>
          <a:prstGeom prst="rect">
            <a:avLst/>
          </a:prstGeom>
          <a:noFill/>
        </p:spPr>
        <p:txBody>
          <a:bodyPr wrap="square" rtlCol="0">
            <a:spAutoFit/>
          </a:bodyPr>
          <a:lstStyle/>
          <a:p>
            <a:r>
              <a:rPr lang="en-US" dirty="0"/>
              <a:t>Table 1: Section Level of the Dual Model : Evaluation Results</a:t>
            </a:r>
            <a:endParaRPr lang="en-IN" dirty="0"/>
          </a:p>
        </p:txBody>
      </p:sp>
      <p:sp>
        <p:nvSpPr>
          <p:cNvPr id="10" name="TextBox 9">
            <a:extLst>
              <a:ext uri="{FF2B5EF4-FFF2-40B4-BE49-F238E27FC236}">
                <a16:creationId xmlns:a16="http://schemas.microsoft.com/office/drawing/2014/main" id="{1CFCC544-14F5-ED04-066C-F09174F95094}"/>
              </a:ext>
            </a:extLst>
          </p:cNvPr>
          <p:cNvSpPr txBox="1"/>
          <p:nvPr/>
        </p:nvSpPr>
        <p:spPr>
          <a:xfrm>
            <a:off x="2978767" y="5839692"/>
            <a:ext cx="8933688" cy="369332"/>
          </a:xfrm>
          <a:prstGeom prst="rect">
            <a:avLst/>
          </a:prstGeom>
          <a:noFill/>
        </p:spPr>
        <p:txBody>
          <a:bodyPr wrap="square" rtlCol="0">
            <a:spAutoFit/>
          </a:bodyPr>
          <a:lstStyle/>
          <a:p>
            <a:r>
              <a:rPr lang="en-US" dirty="0"/>
              <a:t>Table 2: Section Level : Macro-Averaged Evaluation Results</a:t>
            </a:r>
            <a:endParaRPr lang="en-IN" dirty="0"/>
          </a:p>
        </p:txBody>
      </p:sp>
    </p:spTree>
    <p:extLst>
      <p:ext uri="{BB962C8B-B14F-4D97-AF65-F5344CB8AC3E}">
        <p14:creationId xmlns:p14="http://schemas.microsoft.com/office/powerpoint/2010/main" val="3565308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5164" y="-156517"/>
            <a:ext cx="10515600" cy="1325563"/>
          </a:xfrm>
        </p:spPr>
        <p:txBody>
          <a:bodyPr/>
          <a:lstStyle/>
          <a:p>
            <a:r>
              <a:rPr lang="en-IN" dirty="0"/>
              <a:t>RESULTS AND ANALYSIS</a:t>
            </a:r>
          </a:p>
        </p:txBody>
      </p:sp>
      <p:pic>
        <p:nvPicPr>
          <p:cNvPr id="7" name="Picture 6">
            <a:extLst>
              <a:ext uri="{FF2B5EF4-FFF2-40B4-BE49-F238E27FC236}">
                <a16:creationId xmlns:a16="http://schemas.microsoft.com/office/drawing/2014/main" id="{F35464AF-B71B-EFC9-1E19-166DA8F2D3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687" y="956200"/>
            <a:ext cx="8956577" cy="4084757"/>
          </a:xfrm>
          <a:prstGeom prst="rect">
            <a:avLst/>
          </a:prstGeom>
        </p:spPr>
      </p:pic>
      <p:pic>
        <p:nvPicPr>
          <p:cNvPr id="9" name="Picture 8">
            <a:extLst>
              <a:ext uri="{FF2B5EF4-FFF2-40B4-BE49-F238E27FC236}">
                <a16:creationId xmlns:a16="http://schemas.microsoft.com/office/drawing/2014/main" id="{10D834F3-B777-E730-7A49-BEFF77F446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1737" y="5151417"/>
            <a:ext cx="8497486" cy="1200318"/>
          </a:xfrm>
          <a:prstGeom prst="rect">
            <a:avLst/>
          </a:prstGeom>
        </p:spPr>
      </p:pic>
      <p:sp>
        <p:nvSpPr>
          <p:cNvPr id="10" name="TextBox 9">
            <a:extLst>
              <a:ext uri="{FF2B5EF4-FFF2-40B4-BE49-F238E27FC236}">
                <a16:creationId xmlns:a16="http://schemas.microsoft.com/office/drawing/2014/main" id="{FDB2928A-873E-1510-7C13-8A76E02E2998}"/>
              </a:ext>
            </a:extLst>
          </p:cNvPr>
          <p:cNvSpPr txBox="1"/>
          <p:nvPr/>
        </p:nvSpPr>
        <p:spPr>
          <a:xfrm>
            <a:off x="9308591" y="2135505"/>
            <a:ext cx="2697481" cy="923330"/>
          </a:xfrm>
          <a:prstGeom prst="rect">
            <a:avLst/>
          </a:prstGeom>
          <a:noFill/>
        </p:spPr>
        <p:txBody>
          <a:bodyPr wrap="square" rtlCol="0">
            <a:spAutoFit/>
          </a:bodyPr>
          <a:lstStyle/>
          <a:p>
            <a:pPr algn="just"/>
            <a:r>
              <a:rPr lang="en-US" dirty="0"/>
              <a:t>Table 3: Items Level of the Dual Model : Evaluation Results</a:t>
            </a:r>
            <a:endParaRPr lang="en-IN" dirty="0"/>
          </a:p>
        </p:txBody>
      </p:sp>
      <p:sp>
        <p:nvSpPr>
          <p:cNvPr id="13" name="TextBox 12">
            <a:extLst>
              <a:ext uri="{FF2B5EF4-FFF2-40B4-BE49-F238E27FC236}">
                <a16:creationId xmlns:a16="http://schemas.microsoft.com/office/drawing/2014/main" id="{6DF4034C-721E-4627-D1AA-4D6C5BB38482}"/>
              </a:ext>
            </a:extLst>
          </p:cNvPr>
          <p:cNvSpPr txBox="1"/>
          <p:nvPr/>
        </p:nvSpPr>
        <p:spPr>
          <a:xfrm>
            <a:off x="541020" y="5151417"/>
            <a:ext cx="2705100" cy="923330"/>
          </a:xfrm>
          <a:prstGeom prst="rect">
            <a:avLst/>
          </a:prstGeom>
          <a:noFill/>
        </p:spPr>
        <p:txBody>
          <a:bodyPr wrap="square">
            <a:spAutoFit/>
          </a:bodyPr>
          <a:lstStyle/>
          <a:p>
            <a:pPr algn="just"/>
            <a:r>
              <a:rPr lang="en-US" dirty="0"/>
              <a:t>Table 4: Items Level : Macro-Averaged Evaluation Results</a:t>
            </a:r>
            <a:endParaRPr lang="en-IN" dirty="0"/>
          </a:p>
        </p:txBody>
      </p:sp>
    </p:spTree>
    <p:extLst>
      <p:ext uri="{BB962C8B-B14F-4D97-AF65-F5344CB8AC3E}">
        <p14:creationId xmlns:p14="http://schemas.microsoft.com/office/powerpoint/2010/main" val="102169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9291" y="154813"/>
            <a:ext cx="10515600" cy="1325563"/>
          </a:xfrm>
        </p:spPr>
        <p:txBody>
          <a:bodyPr/>
          <a:lstStyle/>
          <a:p>
            <a:r>
              <a:rPr lang="en-IN" dirty="0"/>
              <a:t>RESULTS AND ANALYSIS</a:t>
            </a:r>
          </a:p>
        </p:txBody>
      </p:sp>
      <p:pic>
        <p:nvPicPr>
          <p:cNvPr id="6" name="Picture 5">
            <a:extLst>
              <a:ext uri="{FF2B5EF4-FFF2-40B4-BE49-F238E27FC236}">
                <a16:creationId xmlns:a16="http://schemas.microsoft.com/office/drawing/2014/main" id="{80EA6FFC-2F92-A396-3993-B35727F0B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3348" y="1404176"/>
            <a:ext cx="8573696" cy="1562318"/>
          </a:xfrm>
          <a:prstGeom prst="rect">
            <a:avLst/>
          </a:prstGeom>
        </p:spPr>
      </p:pic>
      <p:pic>
        <p:nvPicPr>
          <p:cNvPr id="8" name="Picture 7">
            <a:extLst>
              <a:ext uri="{FF2B5EF4-FFF2-40B4-BE49-F238E27FC236}">
                <a16:creationId xmlns:a16="http://schemas.microsoft.com/office/drawing/2014/main" id="{42714891-3F0C-0948-D2FC-A84DEF8C3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3348" y="4086800"/>
            <a:ext cx="8602275" cy="1514686"/>
          </a:xfrm>
          <a:prstGeom prst="rect">
            <a:avLst/>
          </a:prstGeom>
        </p:spPr>
      </p:pic>
      <p:sp>
        <p:nvSpPr>
          <p:cNvPr id="10" name="TextBox 9">
            <a:extLst>
              <a:ext uri="{FF2B5EF4-FFF2-40B4-BE49-F238E27FC236}">
                <a16:creationId xmlns:a16="http://schemas.microsoft.com/office/drawing/2014/main" id="{E3545F15-E7A3-A302-6BC0-E86D612FAC13}"/>
              </a:ext>
            </a:extLst>
          </p:cNvPr>
          <p:cNvSpPr txBox="1"/>
          <p:nvPr/>
        </p:nvSpPr>
        <p:spPr>
          <a:xfrm>
            <a:off x="3177540" y="3157315"/>
            <a:ext cx="6775704" cy="369332"/>
          </a:xfrm>
          <a:prstGeom prst="rect">
            <a:avLst/>
          </a:prstGeom>
          <a:noFill/>
        </p:spPr>
        <p:txBody>
          <a:bodyPr wrap="square">
            <a:spAutoFit/>
          </a:bodyPr>
          <a:lstStyle/>
          <a:p>
            <a:r>
              <a:rPr lang="en-US" dirty="0"/>
              <a:t>Table 5: Section Level : Evaluation Results(All Languages)</a:t>
            </a:r>
            <a:endParaRPr lang="en-IN" dirty="0"/>
          </a:p>
        </p:txBody>
      </p:sp>
      <p:sp>
        <p:nvSpPr>
          <p:cNvPr id="12" name="TextBox 11">
            <a:extLst>
              <a:ext uri="{FF2B5EF4-FFF2-40B4-BE49-F238E27FC236}">
                <a16:creationId xmlns:a16="http://schemas.microsoft.com/office/drawing/2014/main" id="{D5C29FE4-286D-41C3-77AA-AF5925AD0C97}"/>
              </a:ext>
            </a:extLst>
          </p:cNvPr>
          <p:cNvSpPr txBox="1"/>
          <p:nvPr/>
        </p:nvSpPr>
        <p:spPr>
          <a:xfrm>
            <a:off x="3323844" y="5948405"/>
            <a:ext cx="6775704" cy="369332"/>
          </a:xfrm>
          <a:prstGeom prst="rect">
            <a:avLst/>
          </a:prstGeom>
          <a:noFill/>
        </p:spPr>
        <p:txBody>
          <a:bodyPr wrap="square">
            <a:spAutoFit/>
          </a:bodyPr>
          <a:lstStyle/>
          <a:p>
            <a:r>
              <a:rPr lang="en-US" dirty="0"/>
              <a:t>Table 6: Section Level : Evaluation Results(All Languages)</a:t>
            </a:r>
            <a:endParaRPr lang="en-IN" dirty="0"/>
          </a:p>
        </p:txBody>
      </p:sp>
    </p:spTree>
    <p:extLst>
      <p:ext uri="{BB962C8B-B14F-4D97-AF65-F5344CB8AC3E}">
        <p14:creationId xmlns:p14="http://schemas.microsoft.com/office/powerpoint/2010/main" val="1280644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7971" y="0"/>
            <a:ext cx="10515600" cy="1325563"/>
          </a:xfrm>
        </p:spPr>
        <p:txBody>
          <a:bodyPr/>
          <a:lstStyle/>
          <a:p>
            <a:r>
              <a:rPr lang="en-IN" dirty="0"/>
              <a:t>RESULTS AND ANALYSIS</a:t>
            </a:r>
          </a:p>
        </p:txBody>
      </p:sp>
      <p:pic>
        <p:nvPicPr>
          <p:cNvPr id="5" name="Picture 4">
            <a:extLst>
              <a:ext uri="{FF2B5EF4-FFF2-40B4-BE49-F238E27FC236}">
                <a16:creationId xmlns:a16="http://schemas.microsoft.com/office/drawing/2014/main" id="{BC84EFC7-0044-448B-FD4E-AF1A4F73F5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374" y="1168096"/>
            <a:ext cx="9126224" cy="5410955"/>
          </a:xfrm>
          <a:prstGeom prst="rect">
            <a:avLst/>
          </a:prstGeom>
        </p:spPr>
      </p:pic>
    </p:spTree>
    <p:extLst>
      <p:ext uri="{BB962C8B-B14F-4D97-AF65-F5344CB8AC3E}">
        <p14:creationId xmlns:p14="http://schemas.microsoft.com/office/powerpoint/2010/main" val="862741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6A623-DD3A-4F30-B130-A5E2F98D6334}"/>
              </a:ext>
            </a:extLst>
          </p:cNvPr>
          <p:cNvSpPr>
            <a:spLocks noGrp="1"/>
          </p:cNvSpPr>
          <p:nvPr>
            <p:ph type="title"/>
          </p:nvPr>
        </p:nvSpPr>
        <p:spPr>
          <a:xfrm>
            <a:off x="3328416" y="76200"/>
            <a:ext cx="10515600" cy="1325563"/>
          </a:xfrm>
        </p:spPr>
        <p:txBody>
          <a:bodyPr/>
          <a:lstStyle/>
          <a:p>
            <a:r>
              <a:rPr lang="en-IN" dirty="0"/>
              <a:t>RESULTS AND ANALYSIS</a:t>
            </a:r>
          </a:p>
        </p:txBody>
      </p:sp>
      <p:pic>
        <p:nvPicPr>
          <p:cNvPr id="4" name="Picture 3">
            <a:extLst>
              <a:ext uri="{FF2B5EF4-FFF2-40B4-BE49-F238E27FC236}">
                <a16:creationId xmlns:a16="http://schemas.microsoft.com/office/drawing/2014/main" id="{BEED98FC-CD15-76CC-B043-B4993EC86E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7905" y="1139208"/>
            <a:ext cx="9126224" cy="5201376"/>
          </a:xfrm>
          <a:prstGeom prst="rect">
            <a:avLst/>
          </a:prstGeom>
        </p:spPr>
      </p:pic>
    </p:spTree>
    <p:extLst>
      <p:ext uri="{BB962C8B-B14F-4D97-AF65-F5344CB8AC3E}">
        <p14:creationId xmlns:p14="http://schemas.microsoft.com/office/powerpoint/2010/main" val="185299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EC7BE-1ADC-D0F2-D548-A0D09B50A8B5}"/>
              </a:ext>
            </a:extLst>
          </p:cNvPr>
          <p:cNvSpPr>
            <a:spLocks noGrp="1"/>
          </p:cNvSpPr>
          <p:nvPr>
            <p:ph type="title"/>
          </p:nvPr>
        </p:nvSpPr>
        <p:spPr>
          <a:xfrm>
            <a:off x="2703576" y="273685"/>
            <a:ext cx="10515600" cy="1325563"/>
          </a:xfrm>
        </p:spPr>
        <p:txBody>
          <a:bodyPr/>
          <a:lstStyle/>
          <a:p>
            <a:r>
              <a:rPr lang="en-IN" dirty="0"/>
              <a:t>RESULTS AND ANALYSIS</a:t>
            </a:r>
          </a:p>
        </p:txBody>
      </p:sp>
    </p:spTree>
    <p:extLst>
      <p:ext uri="{BB962C8B-B14F-4D97-AF65-F5344CB8AC3E}">
        <p14:creationId xmlns:p14="http://schemas.microsoft.com/office/powerpoint/2010/main" val="3205886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0787" y="379154"/>
            <a:ext cx="4730621" cy="987814"/>
          </a:xfrm>
        </p:spPr>
        <p:txBody>
          <a:bodyPr/>
          <a:lstStyle/>
          <a:p>
            <a:r>
              <a:rPr lang="en-US" dirty="0"/>
              <a:t>CONCLUSION</a:t>
            </a:r>
            <a:endParaRPr lang="en-IN" dirty="0"/>
          </a:p>
        </p:txBody>
      </p:sp>
      <p:sp>
        <p:nvSpPr>
          <p:cNvPr id="3" name="Content Placeholder 2"/>
          <p:cNvSpPr>
            <a:spLocks noGrp="1"/>
          </p:cNvSpPr>
          <p:nvPr>
            <p:ph idx="1"/>
          </p:nvPr>
        </p:nvSpPr>
        <p:spPr>
          <a:xfrm>
            <a:off x="781034" y="1447739"/>
            <a:ext cx="11058144" cy="4656072"/>
          </a:xfrm>
        </p:spPr>
        <p:txBody>
          <a:bodyPr>
            <a:noAutofit/>
          </a:bodyPr>
          <a:lstStyle/>
          <a:p>
            <a:pPr algn="just"/>
            <a:r>
              <a:rPr lang="en-IN" sz="2400" dirty="0"/>
              <a:t>The proposed system successfully enables automated CV information extraction</a:t>
            </a:r>
          </a:p>
          <a:p>
            <a:pPr algn="just"/>
            <a:r>
              <a:rPr lang="en-IN" sz="2400" dirty="0"/>
              <a:t>The model leverages XLM-</a:t>
            </a:r>
            <a:r>
              <a:rPr lang="en-IN" sz="2400" dirty="0" err="1"/>
              <a:t>RoBERTa</a:t>
            </a:r>
            <a:r>
              <a:rPr lang="en-IN" sz="2400" dirty="0"/>
              <a:t> for effective multilingual resume processing</a:t>
            </a:r>
          </a:p>
          <a:p>
            <a:pPr algn="just"/>
            <a:r>
              <a:rPr lang="en-IN" sz="2400" dirty="0"/>
              <a:t>The </a:t>
            </a:r>
            <a:r>
              <a:rPr lang="en-IN" sz="2400" dirty="0" err="1"/>
              <a:t>DualModel</a:t>
            </a:r>
            <a:r>
              <a:rPr lang="en-IN" sz="2400" dirty="0"/>
              <a:t> architecture integrates both NER and section classification</a:t>
            </a:r>
          </a:p>
          <a:p>
            <a:pPr algn="just"/>
            <a:r>
              <a:rPr lang="en-IN" sz="2400" dirty="0"/>
              <a:t>The BIO tagging scheme ensures accurate entity boundary detection</a:t>
            </a:r>
          </a:p>
          <a:p>
            <a:pPr algn="just"/>
            <a:r>
              <a:rPr lang="en-IN" sz="2400" dirty="0"/>
              <a:t>The system achieves an Item-level F1-score of 0.9709 on test data</a:t>
            </a:r>
          </a:p>
          <a:p>
            <a:pPr algn="just"/>
            <a:r>
              <a:rPr lang="en-IN" sz="2400" dirty="0"/>
              <a:t>The model also attains a Section-level F1-score of 0.9491 on test data</a:t>
            </a:r>
          </a:p>
          <a:p>
            <a:pPr algn="just"/>
            <a:r>
              <a:rPr lang="en-IN" sz="2400" dirty="0"/>
              <a:t>The approach effectively handles unstructured and multilingual CV formats</a:t>
            </a:r>
          </a:p>
          <a:p>
            <a:pPr algn="just"/>
            <a:r>
              <a:rPr lang="en-IN" sz="2400" dirty="0"/>
              <a:t>The system significantly reduces manual effort in recruitment processes</a:t>
            </a:r>
          </a:p>
          <a:p>
            <a:pPr algn="just"/>
            <a:r>
              <a:rPr lang="en-IN" sz="2400" dirty="0"/>
              <a:t>The framework generates structured output for downstream applications</a:t>
            </a:r>
          </a:p>
        </p:txBody>
      </p:sp>
    </p:spTree>
    <p:extLst>
      <p:ext uri="{BB962C8B-B14F-4D97-AF65-F5344CB8AC3E}">
        <p14:creationId xmlns:p14="http://schemas.microsoft.com/office/powerpoint/2010/main" val="1434987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70831-F4EC-A1EE-26B8-424C76030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DE4DD-797F-97A6-2F9A-F4908E08B4F4}"/>
              </a:ext>
            </a:extLst>
          </p:cNvPr>
          <p:cNvSpPr>
            <a:spLocks noGrp="1"/>
          </p:cNvSpPr>
          <p:nvPr>
            <p:ph type="title"/>
          </p:nvPr>
        </p:nvSpPr>
        <p:spPr>
          <a:xfrm>
            <a:off x="3841940" y="73152"/>
            <a:ext cx="4730621" cy="987814"/>
          </a:xfrm>
        </p:spPr>
        <p:txBody>
          <a:bodyPr/>
          <a:lstStyle/>
          <a:p>
            <a:r>
              <a:rPr lang="en-US" dirty="0"/>
              <a:t>FUTURE SCOPE </a:t>
            </a:r>
            <a:endParaRPr lang="en-IN" dirty="0"/>
          </a:p>
        </p:txBody>
      </p:sp>
      <p:sp>
        <p:nvSpPr>
          <p:cNvPr id="3" name="Content Placeholder 2">
            <a:extLst>
              <a:ext uri="{FF2B5EF4-FFF2-40B4-BE49-F238E27FC236}">
                <a16:creationId xmlns:a16="http://schemas.microsoft.com/office/drawing/2014/main" id="{938AF827-0848-93BA-E7AB-6571112E0274}"/>
              </a:ext>
            </a:extLst>
          </p:cNvPr>
          <p:cNvSpPr>
            <a:spLocks noGrp="1"/>
          </p:cNvSpPr>
          <p:nvPr>
            <p:ph idx="1"/>
          </p:nvPr>
        </p:nvSpPr>
        <p:spPr>
          <a:xfrm>
            <a:off x="554735" y="987814"/>
            <a:ext cx="11305032" cy="4656072"/>
          </a:xfrm>
        </p:spPr>
        <p:txBody>
          <a:bodyPr>
            <a:noAutofit/>
          </a:bodyPr>
          <a:lstStyle/>
          <a:p>
            <a:pPr algn="just"/>
            <a:r>
              <a:rPr lang="en-IN" sz="2400" dirty="0"/>
              <a:t>The proposed model can be extended to support more languages and diverse CV formats</a:t>
            </a:r>
          </a:p>
          <a:p>
            <a:pPr algn="just"/>
            <a:r>
              <a:rPr lang="en-IN" sz="2400" dirty="0"/>
              <a:t>The system can be enhanced by integrating layout-aware models for better document understanding</a:t>
            </a:r>
          </a:p>
          <a:p>
            <a:pPr algn="just"/>
            <a:r>
              <a:rPr lang="en-IN" sz="2400" dirty="0"/>
              <a:t>The approach can be improved to handle complex and highly unstructured resumes</a:t>
            </a:r>
          </a:p>
          <a:p>
            <a:pPr algn="just"/>
            <a:r>
              <a:rPr lang="en-IN" sz="2400" dirty="0"/>
              <a:t>The model can be optimized for real-time and large-scale recruitment applications</a:t>
            </a:r>
          </a:p>
          <a:p>
            <a:pPr algn="just"/>
            <a:r>
              <a:rPr lang="en-IN" sz="2400" dirty="0"/>
              <a:t>The framework can be expanded to include job matching and recommendation systems</a:t>
            </a:r>
          </a:p>
          <a:p>
            <a:pPr algn="just"/>
            <a:r>
              <a:rPr lang="en-IN" sz="2400" dirty="0"/>
              <a:t>The extraction module can be enhanced with skill proficiency-level analysis</a:t>
            </a:r>
          </a:p>
          <a:p>
            <a:pPr algn="just"/>
            <a:r>
              <a:rPr lang="en-IN" sz="2400" dirty="0"/>
              <a:t>The system can be developed further with user-friendly interfaces for practical deployment</a:t>
            </a:r>
          </a:p>
          <a:p>
            <a:pPr algn="just"/>
            <a:r>
              <a:rPr lang="en-IN" sz="2400" dirty="0"/>
              <a:t>The computational efficiency can be improved for faster and cost-effective performance</a:t>
            </a:r>
          </a:p>
        </p:txBody>
      </p:sp>
    </p:spTree>
    <p:extLst>
      <p:ext uri="{BB962C8B-B14F-4D97-AF65-F5344CB8AC3E}">
        <p14:creationId xmlns:p14="http://schemas.microsoft.com/office/powerpoint/2010/main" val="3426710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9742" y="253157"/>
            <a:ext cx="4450702" cy="1109112"/>
          </a:xfrm>
        </p:spPr>
        <p:txBody>
          <a:bodyPr/>
          <a:lstStyle/>
          <a:p>
            <a:r>
              <a:rPr lang="en-US" dirty="0"/>
              <a:t>REFERENCES</a:t>
            </a:r>
            <a:endParaRPr lang="en-IN" dirty="0"/>
          </a:p>
        </p:txBody>
      </p:sp>
      <p:sp>
        <p:nvSpPr>
          <p:cNvPr id="3" name="Content Placeholder 2"/>
          <p:cNvSpPr>
            <a:spLocks noGrp="1"/>
          </p:cNvSpPr>
          <p:nvPr>
            <p:ph idx="1"/>
          </p:nvPr>
        </p:nvSpPr>
        <p:spPr>
          <a:xfrm>
            <a:off x="597097" y="1362269"/>
            <a:ext cx="10997806" cy="4814694"/>
          </a:xfrm>
        </p:spPr>
        <p:txBody>
          <a:bodyPr>
            <a:normAutofit fontScale="77500" lnSpcReduction="20000"/>
          </a:bodyPr>
          <a:lstStyle/>
          <a:p>
            <a:pPr algn="just"/>
            <a:r>
              <a:rPr lang="en-IN" sz="1800" b="1" dirty="0"/>
              <a:t> </a:t>
            </a:r>
            <a:r>
              <a:rPr lang="en-IN" dirty="0"/>
              <a:t>[1] Kumar et al., AI-Powered Automated Resume Screening and Job Matching System, IEEE Transactions on Computational Social Systems, 2025</a:t>
            </a:r>
          </a:p>
          <a:p>
            <a:pPr algn="just"/>
            <a:r>
              <a:rPr lang="en-IN" dirty="0"/>
              <a:t>[2] Zhang et al., Resume Information Extraction via Post-OCR Text Correction, Expert Systems with Applications, 2023</a:t>
            </a:r>
          </a:p>
          <a:p>
            <a:pPr algn="just"/>
            <a:r>
              <a:rPr lang="en-IN" dirty="0"/>
              <a:t>[3] Sharma et al., Resume Parser Using Hybrid Approach, International Journal of Advanced Computer Science and Applications, 2023</a:t>
            </a:r>
          </a:p>
          <a:p>
            <a:pPr algn="just"/>
            <a:r>
              <a:rPr lang="en-IN" dirty="0"/>
              <a:t>[4] Singh et al., Enhancing Human Resources Through Data Science, Journal of Big Data, 2023</a:t>
            </a:r>
          </a:p>
          <a:p>
            <a:pPr algn="just"/>
            <a:r>
              <a:rPr lang="en-IN" dirty="0"/>
              <a:t>[5] </a:t>
            </a:r>
            <a:r>
              <a:rPr lang="en-IN" dirty="0" err="1"/>
              <a:t>Barducci</a:t>
            </a:r>
            <a:r>
              <a:rPr lang="en-IN" dirty="0"/>
              <a:t> et al., End-to-End Framework for Information Extraction from Italian Resumes, LREC Proceedings, 2022</a:t>
            </a:r>
          </a:p>
          <a:p>
            <a:pPr algn="just"/>
            <a:r>
              <a:rPr lang="en-IN" dirty="0"/>
              <a:t>[6] Vukadin et al., Information Extraction from Free-Form CV Documents in Multiple Languages, IEEE Access, 2021</a:t>
            </a:r>
          </a:p>
          <a:p>
            <a:pPr algn="just"/>
            <a:r>
              <a:rPr lang="en-IN" dirty="0"/>
              <a:t>[7] Xu et al., </a:t>
            </a:r>
            <a:r>
              <a:rPr lang="en-IN" dirty="0" err="1"/>
              <a:t>LayoutXLM</a:t>
            </a:r>
            <a:r>
              <a:rPr lang="en-IN" dirty="0"/>
              <a:t>: Multimodal Pre-training for Multilingual Document Understanding, </a:t>
            </a:r>
            <a:r>
              <a:rPr lang="en-IN" dirty="0" err="1"/>
              <a:t>arXiv</a:t>
            </a:r>
            <a:r>
              <a:rPr lang="en-IN" dirty="0"/>
              <a:t>, 2021</a:t>
            </a:r>
          </a:p>
          <a:p>
            <a:pPr algn="just"/>
            <a:r>
              <a:rPr lang="en-IN" dirty="0"/>
              <a:t>[8] </a:t>
            </a:r>
            <a:r>
              <a:rPr lang="en-IN" dirty="0" err="1"/>
              <a:t>Conneau</a:t>
            </a:r>
            <a:r>
              <a:rPr lang="en-IN" dirty="0"/>
              <a:t> et al., Unsupervised Cross-lingual Representation Learning at Scale, ACL, 2020</a:t>
            </a:r>
          </a:p>
          <a:p>
            <a:endParaRPr lang="en-IN" sz="1800" dirty="0"/>
          </a:p>
        </p:txBody>
      </p:sp>
    </p:spTree>
    <p:extLst>
      <p:ext uri="{BB962C8B-B14F-4D97-AF65-F5344CB8AC3E}">
        <p14:creationId xmlns:p14="http://schemas.microsoft.com/office/powerpoint/2010/main" val="1804314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954" y="2039112"/>
            <a:ext cx="4340414" cy="1947298"/>
          </a:xfrm>
        </p:spPr>
        <p:txBody>
          <a:bodyPr/>
          <a:lstStyle/>
          <a:p>
            <a:r>
              <a:rPr lang="en-US" dirty="0"/>
              <a:t>THANK YOU</a:t>
            </a:r>
            <a:endParaRPr lang="en-IN" dirty="0"/>
          </a:p>
        </p:txBody>
      </p:sp>
    </p:spTree>
    <p:extLst>
      <p:ext uri="{BB962C8B-B14F-4D97-AF65-F5344CB8AC3E}">
        <p14:creationId xmlns:p14="http://schemas.microsoft.com/office/powerpoint/2010/main" val="3402427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1079</TotalTime>
  <Words>1903</Words>
  <Application>Microsoft Office PowerPoint</Application>
  <PresentationFormat>Widescreen</PresentationFormat>
  <Paragraphs>261</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Calibri</vt:lpstr>
      <vt:lpstr>Office Theme</vt:lpstr>
      <vt:lpstr>      AUTOMATED INFORMATION EXTRACTION FROM MULTILINGUAL CV DOCUMENTS</vt:lpstr>
      <vt:lpstr>CONTENTS</vt:lpstr>
      <vt:lpstr>      INTRODUCTION </vt:lpstr>
      <vt:lpstr>PROBLEM STATEMENT</vt:lpstr>
      <vt:lpstr>LITERATURE SURVEY</vt:lpstr>
      <vt:lpstr>LITERATURE SURVEY</vt:lpstr>
      <vt:lpstr>RESEARCH GAP</vt:lpstr>
      <vt:lpstr>PROJECT OBJECTIVES</vt:lpstr>
      <vt:lpstr>PROPOSED METHODOLOGY</vt:lpstr>
      <vt:lpstr>SYSTEM ARCHITECTURE</vt:lpstr>
      <vt:lpstr>DUALMODEL ARCHITECTURE</vt:lpstr>
      <vt:lpstr>ALGORITHMS USED</vt:lpstr>
      <vt:lpstr>IMPLEMENTATION</vt:lpstr>
      <vt:lpstr>TOOLS &amp; TECHNOLOGIES</vt:lpstr>
      <vt:lpstr>DATASET DESCRIPTION</vt:lpstr>
      <vt:lpstr>RESULTS AND ANALYSIS</vt:lpstr>
      <vt:lpstr>RESULTS AND ANALYSIS</vt:lpstr>
      <vt:lpstr>RESULTS AND ANALYSIS</vt:lpstr>
      <vt:lpstr>RESULTS AND ANALYSIS</vt:lpstr>
      <vt:lpstr>RESULTS AND ANALYSIS</vt:lpstr>
      <vt:lpstr>RESULTS AND ANALYSIS</vt:lpstr>
      <vt:lpstr>RESULTS AND ANALYSIS</vt:lpstr>
      <vt:lpstr>CONCLUSION</vt:lpstr>
      <vt:lpstr>FUTURE SCOPE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TITL</dc:title>
  <dc:creator>Seli Mohapatra</dc:creator>
  <cp:lastModifiedBy>Sujana, Arikati (Contractor)</cp:lastModifiedBy>
  <cp:revision>27</cp:revision>
  <cp:lastPrinted>2026-04-10T09:07:20Z</cp:lastPrinted>
  <dcterms:created xsi:type="dcterms:W3CDTF">2026-04-10T08:53:39Z</dcterms:created>
  <dcterms:modified xsi:type="dcterms:W3CDTF">2026-04-30T06:14:28Z</dcterms:modified>
</cp:coreProperties>
</file>